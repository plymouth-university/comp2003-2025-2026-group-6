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6BD0347-69FE-4D0F-B21B-E627DB757176}">
  <a:tblStyle styleId="{66BD0347-69FE-4D0F-B21B-E627DB757176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" name="Google Shape;2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" name="Google Shape;5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" name="Google Shape;10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" name="Google Shape;15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7" name="Google Shape;18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3" name="Google Shape;223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6" name="Google Shape;266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6" name="Google Shape;30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0" name="Google Shape;340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5" name="Google Shape;385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5" name="Google Shape;425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C2BD9"/>
          </a:solidFill>
          <a:ln cap="flat" cmpd="sng" w="12700">
            <a:solidFill>
              <a:srgbClr val="6C2B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6C2BD9"/>
          </a:solidFill>
          <a:ln cap="flat" cmpd="sng" w="12700">
            <a:solidFill>
              <a:srgbClr val="6C2B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5943600" y="365760"/>
            <a:ext cx="3840480" cy="3840480"/>
          </a:xfrm>
          <a:prstGeom prst="ellipse">
            <a:avLst/>
          </a:prstGeom>
          <a:solidFill>
            <a:srgbClr val="6C2BD9">
              <a:alpha val="7843"/>
            </a:srgbClr>
          </a:solidFill>
          <a:ln cap="flat" cmpd="sng" w="12700">
            <a:solidFill>
              <a:srgbClr val="6C2BD9">
                <a:alpha val="2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3"/>
          <p:cNvSpPr/>
          <p:nvPr/>
        </p:nvSpPr>
        <p:spPr>
          <a:xfrm>
            <a:off x="6583680" y="1005840"/>
            <a:ext cx="2560320" cy="2560320"/>
          </a:xfrm>
          <a:prstGeom prst="ellipse">
            <a:avLst/>
          </a:prstGeom>
          <a:solidFill>
            <a:srgbClr val="6C2BD9">
              <a:alpha val="14901"/>
            </a:srgbClr>
          </a:solidFill>
          <a:ln cap="flat" cmpd="sng" w="12700">
            <a:solidFill>
              <a:srgbClr val="6C2BD9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3"/>
          <p:cNvSpPr/>
          <p:nvPr/>
        </p:nvSpPr>
        <p:spPr>
          <a:xfrm>
            <a:off x="457200" y="594360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Calibri"/>
              <a:buNone/>
            </a:pPr>
            <a:r>
              <a:t/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457200" y="1508760"/>
            <a:ext cx="56692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040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rgbClr val="1E1040"/>
                </a:solidFill>
              </a:rPr>
              <a:t>CAPTURE THE FLAG</a:t>
            </a:r>
            <a:endParaRPr i="0" sz="4000" u="none" cap="none" strike="noStrike">
              <a:solidFill>
                <a:schemeClr val="dk1"/>
              </a:solidFill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457200" y="2286000"/>
            <a:ext cx="54864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500"/>
              <a:buFont typeface="Calibri"/>
              <a:buNone/>
            </a:pPr>
            <a:r>
              <a:rPr i="1" lang="en-US" sz="1500">
                <a:solidFill>
                  <a:srgbClr val="64748B"/>
                </a:solidFill>
              </a:rPr>
              <a:t>A Web-Based Multiplayer Educational Game Platform</a:t>
            </a:r>
            <a:endParaRPr i="0" sz="1500" u="none" cap="none" strike="noStrike">
              <a:solidFill>
                <a:schemeClr val="dk1"/>
              </a:solidFill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457200" y="2834640"/>
            <a:ext cx="2560320" cy="45720"/>
          </a:xfrm>
          <a:prstGeom prst="rect">
            <a:avLst/>
          </a:prstGeom>
          <a:solidFill>
            <a:srgbClr val="6C2BD9"/>
          </a:solidFill>
          <a:ln cap="flat" cmpd="sng" w="12700">
            <a:solidFill>
              <a:srgbClr val="6C2B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3"/>
          <p:cNvSpPr/>
          <p:nvPr/>
        </p:nvSpPr>
        <p:spPr>
          <a:xfrm>
            <a:off x="457200" y="2999232"/>
            <a:ext cx="548640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1E104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1040"/>
                </a:solidFill>
              </a:rPr>
              <a:t>Module: </a:t>
            </a:r>
            <a:r>
              <a:rPr i="0" lang="en-US" sz="1300" u="none" cap="none" strike="noStrike">
                <a:solidFill>
                  <a:srgbClr val="64748B"/>
                </a:solidFill>
              </a:rPr>
              <a:t>COMP2003 </a:t>
            </a:r>
            <a:r>
              <a:rPr lang="en-US" sz="1300">
                <a:solidFill>
                  <a:srgbClr val="64748B"/>
                </a:solidFill>
              </a:rPr>
              <a:t>- </a:t>
            </a:r>
            <a:r>
              <a:rPr i="0" lang="en-US" sz="1300" u="none" cap="none" strike="noStrike">
                <a:solidFill>
                  <a:srgbClr val="64748B"/>
                </a:solidFill>
              </a:rPr>
              <a:t>Computing Group Project</a:t>
            </a:r>
            <a:br>
              <a:rPr i="0" lang="en-US" sz="1300" u="none" cap="none" strike="noStrike">
                <a:solidFill>
                  <a:srgbClr val="64748B"/>
                </a:solidFill>
              </a:rPr>
            </a:br>
            <a:r>
              <a:rPr b="1" i="0" lang="en-US" sz="1300" u="none" cap="none" strike="noStrike">
                <a:solidFill>
                  <a:srgbClr val="1E1040"/>
                </a:solidFill>
              </a:rPr>
              <a:t>Client: </a:t>
            </a:r>
            <a:r>
              <a:rPr i="0" lang="en-US" sz="1300" u="none" cap="none" strike="noStrike">
                <a:solidFill>
                  <a:srgbClr val="64748B"/>
                </a:solidFill>
              </a:rPr>
              <a:t>Dr Rory Hopcraft, University of Plymouth</a:t>
            </a:r>
            <a:br>
              <a:rPr i="0" lang="en-US" sz="1300" u="none" cap="none" strike="noStrike">
                <a:solidFill>
                  <a:srgbClr val="64748B"/>
                </a:solidFill>
              </a:rPr>
            </a:br>
            <a:r>
              <a:rPr b="1" i="0" lang="en-US" sz="1300" u="none" cap="none" strike="noStrike">
                <a:solidFill>
                  <a:srgbClr val="1E1040"/>
                </a:solidFill>
              </a:rPr>
              <a:t>Group: </a:t>
            </a:r>
            <a:r>
              <a:rPr i="0" lang="en-US" sz="1300" u="none" cap="none" strike="noStrike">
                <a:solidFill>
                  <a:srgbClr val="64748B"/>
                </a:solidFill>
              </a:rPr>
              <a:t>Group 6  |  2025–2026</a:t>
            </a:r>
            <a:endParaRPr i="0" sz="1300" u="none" cap="none" strike="noStrike">
              <a:solidFill>
                <a:schemeClr val="dk1"/>
              </a:solidFill>
            </a:endParaRPr>
          </a:p>
        </p:txBody>
      </p:sp>
      <p:pic>
        <p:nvPicPr>
          <p:cNvPr id="25" name="Google Shape;25;p3" title="floating_flag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1550" y="448825"/>
            <a:ext cx="4523999" cy="150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4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6C2BD9"/>
          </a:solidFill>
          <a:ln cap="flat" cmpd="sng" w="12700">
            <a:solidFill>
              <a:srgbClr val="6C2B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4"/>
          <p:cNvSpPr/>
          <p:nvPr/>
        </p:nvSpPr>
        <p:spPr>
          <a:xfrm>
            <a:off x="0" y="4983480"/>
            <a:ext cx="9144000" cy="54864"/>
          </a:xfrm>
          <a:prstGeom prst="rect">
            <a:avLst/>
          </a:prstGeom>
          <a:solidFill>
            <a:srgbClr val="E8E0F8"/>
          </a:solidFill>
          <a:ln cap="flat" cmpd="sng" w="12700">
            <a:solidFill>
              <a:srgbClr val="E8E0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4"/>
          <p:cNvSpPr/>
          <p:nvPr/>
        </p:nvSpPr>
        <p:spPr>
          <a:xfrm>
            <a:off x="365760" y="4910328"/>
            <a:ext cx="84124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COMP2003 – Capture the Flag  |  Group 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365760" y="91440"/>
            <a:ext cx="84124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</a:rPr>
              <a:t>The Problem &amp; Our Client</a:t>
            </a:r>
            <a:endParaRPr i="0" sz="2200" u="none" cap="none" strike="noStrike">
              <a:solidFill>
                <a:schemeClr val="dk1"/>
              </a:solidFill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365760" y="777240"/>
            <a:ext cx="4937760" cy="4069080"/>
          </a:xfrm>
          <a:prstGeom prst="rect">
            <a:avLst/>
          </a:prstGeom>
          <a:solidFill>
            <a:srgbClr val="F8F5FF"/>
          </a:solidFill>
          <a:ln cap="flat" cmpd="sng" w="12700">
            <a:solidFill>
              <a:srgbClr val="E0D6F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4"/>
          <p:cNvSpPr/>
          <p:nvPr/>
        </p:nvSpPr>
        <p:spPr>
          <a:xfrm>
            <a:off x="365760" y="777240"/>
            <a:ext cx="4937760" cy="384048"/>
          </a:xfrm>
          <a:prstGeom prst="rect">
            <a:avLst/>
          </a:prstGeom>
          <a:solidFill>
            <a:srgbClr val="6C2BD9"/>
          </a:solidFill>
          <a:ln cap="flat" cmpd="sng" w="12700">
            <a:solidFill>
              <a:srgbClr val="6C2B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4"/>
          <p:cNvSpPr/>
          <p:nvPr/>
        </p:nvSpPr>
        <p:spPr>
          <a:xfrm>
            <a:off x="365760" y="777240"/>
            <a:ext cx="49377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</a:rPr>
              <a:t>WHY DOES THIS NEED TO EXIST?</a:t>
            </a:r>
            <a:endParaRPr i="0" sz="1200" u="none" cap="none" strike="noStrike">
              <a:solidFill>
                <a:schemeClr val="dk1"/>
              </a:solidFill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365751" y="1298450"/>
            <a:ext cx="47457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048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Char char="●"/>
            </a:pPr>
            <a:r>
              <a:rPr i="0" lang="en-US" sz="1200" u="none" cap="none" strike="noStrike">
                <a:solidFill>
                  <a:srgbClr val="334155"/>
                </a:solidFill>
              </a:rPr>
              <a:t>Sitting through lectures on network security is genuinely hard to stay engaged with</a:t>
            </a:r>
            <a:endParaRPr i="0" sz="1200" u="none" cap="none" strike="noStrike">
              <a:solidFill>
                <a:schemeClr val="dk1"/>
              </a:solidFill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365801" y="2066550"/>
            <a:ext cx="47457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048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Char char="●"/>
            </a:pPr>
            <a:r>
              <a:rPr i="0" lang="en-US" sz="1200" u="none" cap="none" strike="noStrike">
                <a:solidFill>
                  <a:srgbClr val="334155"/>
                </a:solidFill>
              </a:rPr>
              <a:t>There's nothing out there that mixes real cyber-security content with actual game mechanics</a:t>
            </a:r>
            <a:endParaRPr i="0" sz="1200" u="none" cap="none" strike="noStrike">
              <a:solidFill>
                <a:schemeClr val="dk1"/>
              </a:solidFill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365801" y="2834650"/>
            <a:ext cx="47457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048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Char char="●"/>
            </a:pPr>
            <a:r>
              <a:rPr i="0" lang="en-US" sz="1200" u="none" cap="none" strike="noStrike">
                <a:solidFill>
                  <a:srgbClr val="334155"/>
                </a:solidFill>
              </a:rPr>
              <a:t>The platforms that do exist are built for professionals</a:t>
            </a:r>
            <a:r>
              <a:rPr lang="en-US" sz="1200">
                <a:solidFill>
                  <a:srgbClr val="334155"/>
                </a:solidFill>
              </a:rPr>
              <a:t>, </a:t>
            </a:r>
            <a:r>
              <a:rPr i="0" lang="en-US" sz="1200" u="none" cap="none" strike="noStrike">
                <a:solidFill>
                  <a:srgbClr val="334155"/>
                </a:solidFill>
              </a:rPr>
              <a:t>expensive and overkill for a classroom</a:t>
            </a:r>
            <a:endParaRPr i="0" sz="1200" u="none" cap="none" strike="noStrike">
              <a:solidFill>
                <a:schemeClr val="dk1"/>
              </a:solidFill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365801" y="3602725"/>
            <a:ext cx="47457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048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Char char="●"/>
            </a:pPr>
            <a:r>
              <a:rPr i="0" lang="en-US" sz="1200" u="none" cap="none" strike="noStrike">
                <a:solidFill>
                  <a:srgbClr val="334155"/>
                </a:solidFill>
              </a:rPr>
              <a:t>Tools like Kahoot are great for recall but can't generate subject-specific questions on demand</a:t>
            </a:r>
            <a:endParaRPr i="0" sz="1200" u="none" cap="none" strike="noStrike">
              <a:solidFill>
                <a:schemeClr val="dk1"/>
              </a:solidFill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5577840" y="777240"/>
            <a:ext cx="3200400" cy="40690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D6F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4"/>
          <p:cNvSpPr/>
          <p:nvPr/>
        </p:nvSpPr>
        <p:spPr>
          <a:xfrm>
            <a:off x="5577840" y="777240"/>
            <a:ext cx="3200400" cy="384048"/>
          </a:xfrm>
          <a:prstGeom prst="rect">
            <a:avLst/>
          </a:prstGeom>
          <a:solidFill>
            <a:srgbClr val="5B21B6"/>
          </a:solidFill>
          <a:ln cap="flat" cmpd="sng" w="12700">
            <a:solidFill>
              <a:srgbClr val="5B21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4"/>
          <p:cNvSpPr/>
          <p:nvPr/>
        </p:nvSpPr>
        <p:spPr>
          <a:xfrm>
            <a:off x="5577840" y="777240"/>
            <a:ext cx="32004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</a:rPr>
              <a:t>OUR CLIENT</a:t>
            </a:r>
            <a:endParaRPr i="0" sz="1200" u="none" cap="none" strike="noStrike">
              <a:solidFill>
                <a:schemeClr val="dk1"/>
              </a:solidFill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6492240" y="1389888"/>
            <a:ext cx="1371600" cy="1371600"/>
          </a:xfrm>
          <a:prstGeom prst="ellipse">
            <a:avLst/>
          </a:prstGeom>
          <a:solidFill>
            <a:srgbClr val="E8E0F8"/>
          </a:solidFill>
          <a:ln cap="flat" cmpd="sng" w="25400">
            <a:solidFill>
              <a:srgbClr val="D0C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4"/>
          <p:cNvSpPr/>
          <p:nvPr/>
        </p:nvSpPr>
        <p:spPr>
          <a:xfrm>
            <a:off x="6492240" y="1389888"/>
            <a:ext cx="1371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t/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5669280" y="2907792"/>
            <a:ext cx="3017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1040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E1040"/>
                </a:solidFill>
              </a:rPr>
              <a:t>Dr Rory Hopcraft</a:t>
            </a:r>
            <a:endParaRPr i="0" sz="1400" u="none" cap="none" strike="noStrike">
              <a:solidFill>
                <a:schemeClr val="dk1"/>
              </a:solidFill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5669280" y="3218688"/>
            <a:ext cx="30175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i="0" lang="en-US" sz="1100" u="none" cap="none" strike="noStrike">
                <a:solidFill>
                  <a:srgbClr val="64748B"/>
                </a:solidFill>
              </a:rPr>
              <a:t>Lecturer in Cyber Security</a:t>
            </a:r>
            <a:endParaRPr i="0" sz="1100" u="none" cap="none" strike="noStrike">
              <a:solidFill>
                <a:schemeClr val="dk1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i="0" lang="en-US" sz="1100" u="none" cap="none" strike="noStrike">
                <a:solidFill>
                  <a:srgbClr val="64748B"/>
                </a:solidFill>
              </a:rPr>
              <a:t>University of Plymouth</a:t>
            </a:r>
            <a:endParaRPr i="0" sz="1100" u="none" cap="none" strike="noStrike">
              <a:solidFill>
                <a:schemeClr val="dk1"/>
              </a:solidFill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5669280" y="3749040"/>
            <a:ext cx="30175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Calibri"/>
              <a:buNone/>
            </a:pPr>
            <a:r>
              <a:rPr i="1" lang="en-US" sz="1050" u="none" cap="none" strike="noStrike">
                <a:solidFill>
                  <a:srgbClr val="334155"/>
                </a:solidFill>
              </a:rPr>
              <a:t>He came to us with a clear goal</a:t>
            </a:r>
            <a:r>
              <a:rPr i="1" lang="en-US" sz="1050">
                <a:solidFill>
                  <a:srgbClr val="334155"/>
                </a:solidFill>
              </a:rPr>
              <a:t>, </a:t>
            </a:r>
            <a:r>
              <a:rPr i="1" lang="en-US" sz="1050" u="none" cap="none" strike="noStrike">
                <a:solidFill>
                  <a:srgbClr val="334155"/>
                </a:solidFill>
              </a:rPr>
              <a:t>make his classes more engaging. He was collaborative, honest with his feedback, and gave us real creative freedom.</a:t>
            </a:r>
            <a:endParaRPr i="0" sz="1050" u="none" cap="none" strike="noStrike">
              <a:solidFill>
                <a:schemeClr val="dk1"/>
              </a:solidFill>
            </a:endParaRPr>
          </a:p>
        </p:txBody>
      </p:sp>
      <p:pic>
        <p:nvPicPr>
          <p:cNvPr id="50" name="Google Shape;50;p4" title="1562678779197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22275" y="1278775"/>
            <a:ext cx="1555800" cy="1555800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5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6C2BD9"/>
          </a:solidFill>
          <a:ln cap="flat" cmpd="sng" w="12700">
            <a:solidFill>
              <a:srgbClr val="6C2B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5"/>
          <p:cNvSpPr/>
          <p:nvPr/>
        </p:nvSpPr>
        <p:spPr>
          <a:xfrm>
            <a:off x="0" y="4983480"/>
            <a:ext cx="9144000" cy="54864"/>
          </a:xfrm>
          <a:prstGeom prst="rect">
            <a:avLst/>
          </a:prstGeom>
          <a:solidFill>
            <a:srgbClr val="E8E0F8"/>
          </a:solidFill>
          <a:ln cap="flat" cmpd="sng" w="12700">
            <a:solidFill>
              <a:srgbClr val="E8E0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365760" y="4910328"/>
            <a:ext cx="84124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COMP2003 – Capture the Flag  |  Group 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5"/>
          <p:cNvSpPr/>
          <p:nvPr/>
        </p:nvSpPr>
        <p:spPr>
          <a:xfrm>
            <a:off x="365760" y="91440"/>
            <a:ext cx="84124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</a:rPr>
              <a:t>What We Built</a:t>
            </a:r>
            <a:endParaRPr i="0" sz="2200" u="none" cap="none" strike="noStrike">
              <a:solidFill>
                <a:schemeClr val="dk1"/>
              </a:solidFill>
            </a:endParaRPr>
          </a:p>
        </p:txBody>
      </p:sp>
      <p:sp>
        <p:nvSpPr>
          <p:cNvPr id="60" name="Google Shape;60;p5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50"/>
              <a:buFont typeface="Calibri"/>
              <a:buNone/>
            </a:pPr>
            <a:r>
              <a:rPr i="1" lang="en-US" sz="1350" u="none" cap="none" strike="noStrike">
                <a:solidFill>
                  <a:srgbClr val="64748B"/>
                </a:solidFill>
              </a:rPr>
              <a:t>Students join a live classroom session with a PIN, pick a team, answer quiz questions and play mini-games</a:t>
            </a:r>
            <a:r>
              <a:rPr i="1" lang="en-US" sz="1350">
                <a:solidFill>
                  <a:srgbClr val="64748B"/>
                </a:solidFill>
              </a:rPr>
              <a:t>, </a:t>
            </a:r>
            <a:r>
              <a:rPr i="1" lang="en-US" sz="1350" u="none" cap="none" strike="noStrike">
                <a:solidFill>
                  <a:srgbClr val="64748B"/>
                </a:solidFill>
              </a:rPr>
              <a:t>all scored in real time.</a:t>
            </a:r>
            <a:endParaRPr i="0" sz="1350" u="none" cap="none" strike="noStrike">
              <a:solidFill>
                <a:schemeClr val="dk1"/>
              </a:solidFill>
            </a:endParaRPr>
          </a:p>
        </p:txBody>
      </p:sp>
      <p:sp>
        <p:nvSpPr>
          <p:cNvPr id="61" name="Google Shape;61;p5"/>
          <p:cNvSpPr/>
          <p:nvPr/>
        </p:nvSpPr>
        <p:spPr>
          <a:xfrm>
            <a:off x="365760" y="1261872"/>
            <a:ext cx="2651760" cy="1572768"/>
          </a:xfrm>
          <a:prstGeom prst="rect">
            <a:avLst/>
          </a:prstGeom>
          <a:solidFill>
            <a:srgbClr val="F8F5FF"/>
          </a:solidFill>
          <a:ln cap="flat" cmpd="sng" w="12700">
            <a:solidFill>
              <a:srgbClr val="E0D6F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5"/>
          <p:cNvSpPr/>
          <p:nvPr/>
        </p:nvSpPr>
        <p:spPr>
          <a:xfrm>
            <a:off x="365760" y="1399032"/>
            <a:ext cx="2651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Calibri"/>
              <a:buNone/>
            </a:pPr>
            <a:r>
              <a:rPr b="0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🔐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5"/>
          <p:cNvSpPr/>
          <p:nvPr/>
        </p:nvSpPr>
        <p:spPr>
          <a:xfrm>
            <a:off x="365760" y="1901952"/>
            <a:ext cx="2651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104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1040"/>
                </a:solidFill>
              </a:rPr>
              <a:t>Sign in with Google</a:t>
            </a:r>
            <a:endParaRPr i="0" sz="1300" u="none" cap="none" strike="noStrike">
              <a:solidFill>
                <a:schemeClr val="dk1"/>
              </a:solidFill>
            </a:endParaRPr>
          </a:p>
        </p:txBody>
      </p:sp>
      <p:sp>
        <p:nvSpPr>
          <p:cNvPr id="64" name="Google Shape;64;p5"/>
          <p:cNvSpPr/>
          <p:nvPr/>
        </p:nvSpPr>
        <p:spPr>
          <a:xfrm>
            <a:off x="365760" y="2194560"/>
            <a:ext cx="265176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i="0" lang="en-US" sz="1050" u="none" cap="none" strike="noStrike">
                <a:solidFill>
                  <a:srgbClr val="64748B"/>
                </a:solidFill>
              </a:rPr>
              <a:t>No passwords, no accounts to create.</a:t>
            </a:r>
            <a:endParaRPr i="0" sz="1050" u="none" cap="none" strike="noStrike">
              <a:solidFill>
                <a:schemeClr val="dk1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i="0" lang="en-US" sz="1050" u="none" cap="none" strike="noStrike">
                <a:solidFill>
                  <a:srgbClr val="64748B"/>
                </a:solidFill>
              </a:rPr>
              <a:t>Just sign in with the Google account you already have.</a:t>
            </a:r>
            <a:endParaRPr i="0" sz="1050" u="none" cap="none" strike="noStrike">
              <a:solidFill>
                <a:schemeClr val="dk1"/>
              </a:solidFill>
            </a:endParaRPr>
          </a:p>
        </p:txBody>
      </p:sp>
      <p:sp>
        <p:nvSpPr>
          <p:cNvPr id="65" name="Google Shape;65;p5"/>
          <p:cNvSpPr/>
          <p:nvPr/>
        </p:nvSpPr>
        <p:spPr>
          <a:xfrm>
            <a:off x="3246120" y="1261872"/>
            <a:ext cx="2651760" cy="1572768"/>
          </a:xfrm>
          <a:prstGeom prst="rect">
            <a:avLst/>
          </a:prstGeom>
          <a:solidFill>
            <a:srgbClr val="F0F9FF"/>
          </a:solidFill>
          <a:ln cap="flat" cmpd="sng" w="12700">
            <a:solidFill>
              <a:srgbClr val="E0D6F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5"/>
          <p:cNvSpPr/>
          <p:nvPr/>
        </p:nvSpPr>
        <p:spPr>
          <a:xfrm>
            <a:off x="3246120" y="1399032"/>
            <a:ext cx="2651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Calibri"/>
              <a:buNone/>
            </a:pPr>
            <a:r>
              <a:rPr b="0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📌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5"/>
          <p:cNvSpPr/>
          <p:nvPr/>
        </p:nvSpPr>
        <p:spPr>
          <a:xfrm>
            <a:off x="3246120" y="1901952"/>
            <a:ext cx="2651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104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1040"/>
                </a:solidFill>
              </a:rPr>
              <a:t>Join with a PIN</a:t>
            </a:r>
            <a:endParaRPr i="0" sz="1300" u="none" cap="none" strike="noStrike">
              <a:solidFill>
                <a:schemeClr val="dk1"/>
              </a:solidFill>
            </a:endParaRPr>
          </a:p>
        </p:txBody>
      </p:sp>
      <p:sp>
        <p:nvSpPr>
          <p:cNvPr id="68" name="Google Shape;68;p5"/>
          <p:cNvSpPr/>
          <p:nvPr/>
        </p:nvSpPr>
        <p:spPr>
          <a:xfrm>
            <a:off x="3246120" y="2194560"/>
            <a:ext cx="265176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i="0" lang="en-US" sz="1050" u="none" cap="none" strike="noStrike">
                <a:solidFill>
                  <a:srgbClr val="64748B"/>
                </a:solidFill>
              </a:rPr>
              <a:t>Teacher creates a session and shares a</a:t>
            </a:r>
            <a:endParaRPr i="0" sz="1050" u="none" cap="none" strike="noStrike">
              <a:solidFill>
                <a:schemeClr val="dk1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i="0" lang="en-US" sz="1050" u="none" cap="none" strike="noStrike">
                <a:solidFill>
                  <a:srgbClr val="64748B"/>
                </a:solidFill>
              </a:rPr>
              <a:t>6-digit PIN. Students type it in and they're in.</a:t>
            </a:r>
            <a:endParaRPr i="0" sz="1050" u="none" cap="none" strike="noStrike">
              <a:solidFill>
                <a:schemeClr val="dk1"/>
              </a:solidFill>
            </a:endParaRPr>
          </a:p>
        </p:txBody>
      </p:sp>
      <p:sp>
        <p:nvSpPr>
          <p:cNvPr id="69" name="Google Shape;69;p5"/>
          <p:cNvSpPr/>
          <p:nvPr/>
        </p:nvSpPr>
        <p:spPr>
          <a:xfrm>
            <a:off x="6126480" y="1261872"/>
            <a:ext cx="2651760" cy="1572768"/>
          </a:xfrm>
          <a:prstGeom prst="rect">
            <a:avLst/>
          </a:prstGeom>
          <a:solidFill>
            <a:srgbClr val="F8F5FF"/>
          </a:solidFill>
          <a:ln cap="flat" cmpd="sng" w="12700">
            <a:solidFill>
              <a:srgbClr val="E0D6F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5"/>
          <p:cNvSpPr/>
          <p:nvPr/>
        </p:nvSpPr>
        <p:spPr>
          <a:xfrm>
            <a:off x="6126480" y="1399032"/>
            <a:ext cx="2651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Calibri"/>
              <a:buNone/>
            </a:pPr>
            <a:r>
              <a:rPr b="0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🧠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5"/>
          <p:cNvSpPr/>
          <p:nvPr/>
        </p:nvSpPr>
        <p:spPr>
          <a:xfrm>
            <a:off x="6126480" y="1901952"/>
            <a:ext cx="2651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104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1040"/>
                </a:solidFill>
              </a:rPr>
              <a:t>AI-generated questions</a:t>
            </a:r>
            <a:endParaRPr i="0" sz="1300" u="none" cap="none" strike="noStrike">
              <a:solidFill>
                <a:schemeClr val="dk1"/>
              </a:solidFill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6126480" y="2194560"/>
            <a:ext cx="265176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i="0" lang="en-US" sz="1050" u="none" cap="none" strike="noStrike">
                <a:solidFill>
                  <a:srgbClr val="64748B"/>
                </a:solidFill>
              </a:rPr>
              <a:t>Teacher types a topic. Gemma3 AI generates</a:t>
            </a:r>
            <a:endParaRPr i="0" sz="1050" u="none" cap="none" strike="noStrike">
              <a:solidFill>
                <a:schemeClr val="dk1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i="0" lang="en-US" sz="1050" u="none" cap="none" strike="noStrike">
                <a:solidFill>
                  <a:srgbClr val="64748B"/>
                </a:solidFill>
              </a:rPr>
              <a:t>8 quiz questions. Teacher reviews and uploads.</a:t>
            </a:r>
            <a:endParaRPr i="0" sz="1050" u="none" cap="none" strike="noStrike">
              <a:solidFill>
                <a:schemeClr val="dk1"/>
              </a:solidFill>
            </a:endParaRPr>
          </a:p>
        </p:txBody>
      </p:sp>
      <p:sp>
        <p:nvSpPr>
          <p:cNvPr id="73" name="Google Shape;73;p5"/>
          <p:cNvSpPr/>
          <p:nvPr/>
        </p:nvSpPr>
        <p:spPr>
          <a:xfrm>
            <a:off x="365760" y="2999232"/>
            <a:ext cx="2651760" cy="1572768"/>
          </a:xfrm>
          <a:prstGeom prst="rect">
            <a:avLst/>
          </a:prstGeom>
          <a:solidFill>
            <a:srgbClr val="F0F9FF"/>
          </a:solidFill>
          <a:ln cap="flat" cmpd="sng" w="12700">
            <a:solidFill>
              <a:srgbClr val="E0D6F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5"/>
          <p:cNvSpPr/>
          <p:nvPr/>
        </p:nvSpPr>
        <p:spPr>
          <a:xfrm>
            <a:off x="365760" y="3136392"/>
            <a:ext cx="2651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Calibri"/>
              <a:buNone/>
            </a:pPr>
            <a:r>
              <a:rPr b="0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🎮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5"/>
          <p:cNvSpPr/>
          <p:nvPr/>
        </p:nvSpPr>
        <p:spPr>
          <a:xfrm>
            <a:off x="365760" y="3639312"/>
            <a:ext cx="2651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104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1040"/>
                </a:solidFill>
              </a:rPr>
              <a:t>Four mini-games</a:t>
            </a:r>
            <a:endParaRPr i="0" sz="1300" u="none" cap="none" strike="noStrike">
              <a:solidFill>
                <a:schemeClr val="dk1"/>
              </a:solidFill>
            </a:endParaRPr>
          </a:p>
        </p:txBody>
      </p:sp>
      <p:sp>
        <p:nvSpPr>
          <p:cNvPr id="76" name="Google Shape;76;p5"/>
          <p:cNvSpPr/>
          <p:nvPr/>
        </p:nvSpPr>
        <p:spPr>
          <a:xfrm>
            <a:off x="365760" y="3931920"/>
            <a:ext cx="265176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i="0" lang="en-US" sz="1050" u="none" cap="none" strike="noStrike">
                <a:solidFill>
                  <a:srgbClr val="64748B"/>
                </a:solidFill>
              </a:rPr>
              <a:t>Stacker, Jumper, Flapper and Snake</a:t>
            </a:r>
            <a:r>
              <a:rPr lang="en-US" sz="1050">
                <a:solidFill>
                  <a:srgbClr val="64748B"/>
                </a:solidFill>
              </a:rPr>
              <a:t>,</a:t>
            </a:r>
            <a:endParaRPr i="0" sz="1050" u="none" cap="none" strike="noStrike">
              <a:solidFill>
                <a:schemeClr val="dk1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i="0" lang="en-US" sz="1050" u="none" cap="none" strike="noStrike">
                <a:solidFill>
                  <a:srgbClr val="64748B"/>
                </a:solidFill>
              </a:rPr>
              <a:t>randomly picked each round. Built in Unity WebGL.</a:t>
            </a:r>
            <a:endParaRPr i="0" sz="1050" u="none" cap="none" strike="noStrike">
              <a:solidFill>
                <a:schemeClr val="dk1"/>
              </a:solidFill>
            </a:endParaRPr>
          </a:p>
        </p:txBody>
      </p:sp>
      <p:sp>
        <p:nvSpPr>
          <p:cNvPr id="77" name="Google Shape;77;p5"/>
          <p:cNvSpPr/>
          <p:nvPr/>
        </p:nvSpPr>
        <p:spPr>
          <a:xfrm>
            <a:off x="3246120" y="2999232"/>
            <a:ext cx="2651760" cy="1572768"/>
          </a:xfrm>
          <a:prstGeom prst="rect">
            <a:avLst/>
          </a:prstGeom>
          <a:solidFill>
            <a:srgbClr val="F8F5FF"/>
          </a:solidFill>
          <a:ln cap="flat" cmpd="sng" w="12700">
            <a:solidFill>
              <a:srgbClr val="E0D6F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5"/>
          <p:cNvSpPr/>
          <p:nvPr/>
        </p:nvSpPr>
        <p:spPr>
          <a:xfrm>
            <a:off x="3246120" y="3136392"/>
            <a:ext cx="2651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Calibri"/>
              <a:buNone/>
            </a:pPr>
            <a:r>
              <a:rPr b="0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📊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3246120" y="3639312"/>
            <a:ext cx="2651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104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1040"/>
                </a:solidFill>
              </a:rPr>
              <a:t>Live scoreboard</a:t>
            </a:r>
            <a:endParaRPr i="0" sz="1300" u="none" cap="none" strike="noStrike">
              <a:solidFill>
                <a:schemeClr val="dk1"/>
              </a:solidFill>
            </a:endParaRPr>
          </a:p>
        </p:txBody>
      </p:sp>
      <p:sp>
        <p:nvSpPr>
          <p:cNvPr id="80" name="Google Shape;80;p5"/>
          <p:cNvSpPr/>
          <p:nvPr/>
        </p:nvSpPr>
        <p:spPr>
          <a:xfrm>
            <a:off x="3246120" y="3931920"/>
            <a:ext cx="265176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i="0" lang="en-US" sz="1050" u="none" cap="none" strike="noStrike">
                <a:solidFill>
                  <a:srgbClr val="64748B"/>
                </a:solidFill>
              </a:rPr>
              <a:t>Both team scores update in real time</a:t>
            </a:r>
            <a:endParaRPr i="0" sz="1050" u="none" cap="none" strike="noStrike">
              <a:solidFill>
                <a:schemeClr val="dk1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i="0" lang="en-US" sz="1050" u="none" cap="none" strike="noStrike">
                <a:solidFill>
                  <a:srgbClr val="64748B"/>
                </a:solidFill>
              </a:rPr>
              <a:t>for everyone in the room. No refresh needed.</a:t>
            </a:r>
            <a:endParaRPr i="0" sz="1050" u="none" cap="none" strike="noStrike">
              <a:solidFill>
                <a:schemeClr val="dk1"/>
              </a:solidFill>
            </a:endParaRPr>
          </a:p>
        </p:txBody>
      </p:sp>
      <p:sp>
        <p:nvSpPr>
          <p:cNvPr id="81" name="Google Shape;81;p5"/>
          <p:cNvSpPr/>
          <p:nvPr/>
        </p:nvSpPr>
        <p:spPr>
          <a:xfrm>
            <a:off x="6126480" y="2999232"/>
            <a:ext cx="2651760" cy="1572768"/>
          </a:xfrm>
          <a:prstGeom prst="rect">
            <a:avLst/>
          </a:prstGeom>
          <a:solidFill>
            <a:srgbClr val="F0F9FF"/>
          </a:solidFill>
          <a:ln cap="flat" cmpd="sng" w="12700">
            <a:solidFill>
              <a:srgbClr val="E0D6F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5"/>
          <p:cNvSpPr/>
          <p:nvPr/>
        </p:nvSpPr>
        <p:spPr>
          <a:xfrm>
            <a:off x="6126480" y="3136392"/>
            <a:ext cx="2651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Calibri"/>
              <a:buNone/>
            </a:pPr>
            <a:r>
              <a:rPr b="0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⚡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5"/>
          <p:cNvSpPr/>
          <p:nvPr/>
        </p:nvSpPr>
        <p:spPr>
          <a:xfrm>
            <a:off x="6126480" y="3639312"/>
            <a:ext cx="2651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104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1040"/>
                </a:solidFill>
              </a:rPr>
              <a:t>Role abilities</a:t>
            </a:r>
            <a:endParaRPr i="0" sz="1300" u="none" cap="none" strike="noStrike">
              <a:solidFill>
                <a:schemeClr val="dk1"/>
              </a:solidFill>
            </a:endParaRPr>
          </a:p>
        </p:txBody>
      </p:sp>
      <p:sp>
        <p:nvSpPr>
          <p:cNvPr id="84" name="Google Shape;84;p5"/>
          <p:cNvSpPr/>
          <p:nvPr/>
        </p:nvSpPr>
        <p:spPr>
          <a:xfrm>
            <a:off x="6126480" y="3931920"/>
            <a:ext cx="265176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i="0" lang="en-US" sz="1050" u="none" cap="none" strike="noStrike">
                <a:solidFill>
                  <a:srgbClr val="64748B"/>
                </a:solidFill>
              </a:rPr>
              <a:t>Each of the four roles has a unique</a:t>
            </a:r>
            <a:endParaRPr i="0" sz="1050" u="none" cap="none" strike="noStrike">
              <a:solidFill>
                <a:schemeClr val="dk1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i="0" lang="en-US" sz="1050" u="none" cap="none" strike="noStrike">
                <a:solidFill>
                  <a:srgbClr val="64748B"/>
                </a:solidFill>
              </a:rPr>
              <a:t>gameplay advantage</a:t>
            </a:r>
            <a:r>
              <a:rPr lang="en-US" sz="1050">
                <a:solidFill>
                  <a:srgbClr val="64748B"/>
                </a:solidFill>
              </a:rPr>
              <a:t>, </a:t>
            </a:r>
            <a:r>
              <a:rPr i="0" lang="en-US" sz="1050" u="none" cap="none" strike="noStrike">
                <a:solidFill>
                  <a:srgbClr val="64748B"/>
                </a:solidFill>
              </a:rPr>
              <a:t>more on this later.</a:t>
            </a:r>
            <a:endParaRPr i="0" sz="1050" u="none" cap="none" strike="noStrike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6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6C2BD9"/>
          </a:solidFill>
          <a:ln cap="flat" cmpd="sng" w="12700">
            <a:solidFill>
              <a:srgbClr val="6C2B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6"/>
          <p:cNvSpPr/>
          <p:nvPr/>
        </p:nvSpPr>
        <p:spPr>
          <a:xfrm>
            <a:off x="0" y="4983480"/>
            <a:ext cx="9144000" cy="54864"/>
          </a:xfrm>
          <a:prstGeom prst="rect">
            <a:avLst/>
          </a:prstGeom>
          <a:solidFill>
            <a:srgbClr val="E8E0F8"/>
          </a:solidFill>
          <a:ln cap="flat" cmpd="sng" w="12700">
            <a:solidFill>
              <a:srgbClr val="E8E0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6"/>
          <p:cNvSpPr/>
          <p:nvPr/>
        </p:nvSpPr>
        <p:spPr>
          <a:xfrm>
            <a:off x="365760" y="4910328"/>
            <a:ext cx="84124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COMP2003 – Capture the Flag  |  Group 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6"/>
          <p:cNvSpPr/>
          <p:nvPr/>
        </p:nvSpPr>
        <p:spPr>
          <a:xfrm>
            <a:off x="365760" y="91440"/>
            <a:ext cx="84124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</a:rPr>
              <a:t>How We Worked </a:t>
            </a:r>
            <a:r>
              <a:rPr b="1" lang="en-US" sz="2200">
                <a:solidFill>
                  <a:srgbClr val="FFFFFF"/>
                </a:solidFill>
              </a:rPr>
              <a:t>- </a:t>
            </a:r>
            <a:r>
              <a:rPr b="1" i="0" lang="en-US" sz="2200" u="none" cap="none" strike="noStrike">
                <a:solidFill>
                  <a:srgbClr val="FFFFFF"/>
                </a:solidFill>
              </a:rPr>
              <a:t>Agile Sprints</a:t>
            </a:r>
            <a:endParaRPr i="0" sz="2200" u="none" cap="none" strike="noStrike">
              <a:solidFill>
                <a:schemeClr val="dk1"/>
              </a:solidFill>
            </a:endParaRPr>
          </a:p>
        </p:txBody>
      </p:sp>
      <p:sp>
        <p:nvSpPr>
          <p:cNvPr id="94" name="Google Shape;94;p6"/>
          <p:cNvSpPr/>
          <p:nvPr/>
        </p:nvSpPr>
        <p:spPr>
          <a:xfrm>
            <a:off x="365760" y="749808"/>
            <a:ext cx="8412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i="1" lang="en-US" sz="1300" u="none" cap="none" strike="noStrike">
                <a:solidFill>
                  <a:srgbClr val="64748B"/>
                </a:solidFill>
              </a:rPr>
              <a:t>We ran </a:t>
            </a:r>
            <a:r>
              <a:rPr i="1" lang="en-US" sz="1300">
                <a:solidFill>
                  <a:srgbClr val="64748B"/>
                </a:solidFill>
              </a:rPr>
              <a:t>5-6</a:t>
            </a:r>
            <a:r>
              <a:rPr i="1" lang="en-US" sz="1300" u="none" cap="none" strike="noStrike">
                <a:solidFill>
                  <a:srgbClr val="64748B"/>
                </a:solidFill>
              </a:rPr>
              <a:t> week Agile sprints, reviewed progress with Dr Ji-Jian Chin, and split work by each person's strengths so nobody was blocking anyone else.</a:t>
            </a:r>
            <a:endParaRPr i="0" sz="1300" u="none" cap="none" strike="noStrike">
              <a:solidFill>
                <a:schemeClr val="dk1"/>
              </a:solidFill>
            </a:endParaRPr>
          </a:p>
        </p:txBody>
      </p:sp>
      <p:sp>
        <p:nvSpPr>
          <p:cNvPr id="95" name="Google Shape;95;p6"/>
          <p:cNvSpPr/>
          <p:nvPr/>
        </p:nvSpPr>
        <p:spPr>
          <a:xfrm>
            <a:off x="365760" y="1261872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040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E1040"/>
                </a:solidFill>
              </a:rPr>
              <a:t>The Team</a:t>
            </a:r>
            <a:endParaRPr i="0" sz="1400" u="none" cap="none" strike="noStrike">
              <a:solidFill>
                <a:schemeClr val="dk1"/>
              </a:solidFill>
            </a:endParaRPr>
          </a:p>
        </p:txBody>
      </p:sp>
      <p:graphicFrame>
        <p:nvGraphicFramePr>
          <p:cNvPr id="96" name="Google Shape;96;p6"/>
          <p:cNvGraphicFramePr/>
          <p:nvPr/>
        </p:nvGraphicFramePr>
        <p:xfrm>
          <a:off x="365760" y="157276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{66BD0347-69FE-4D0F-B21B-E627DB757176}</a:tableStyleId>
              </a:tblPr>
              <a:tblGrid>
                <a:gridCol w="1737350"/>
                <a:gridCol w="2651750"/>
                <a:gridCol w="4023350"/>
              </a:tblGrid>
              <a:tr h="420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</a:rPr>
                        <a:t>Name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E0D6F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D6F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D6F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D6F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C2B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</a:rPr>
                        <a:t>Background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E0D6F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D6F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D6F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D6F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C2B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</a:rPr>
                        <a:t>What they owned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E0D6F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D6F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D6F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D6F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C2BD9"/>
                    </a:solidFill>
                  </a:tcPr>
                </a:tc>
              </a:tr>
              <a:tr h="420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334155"/>
                          </a:solidFill>
                        </a:rPr>
                        <a:t>Marc Jones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E0D6F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D6F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D6F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D6F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334155"/>
                          </a:solidFill>
                        </a:rPr>
                        <a:t>Game design, web games, Unity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E0D6F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D6F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D6F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D6F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334155"/>
                          </a:solidFill>
                        </a:rPr>
                        <a:t>Mini-games, AI integration, game loop logic, sprint management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E0D6F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D6F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D6F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D6F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20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334155"/>
                          </a:solidFill>
                        </a:rPr>
                        <a:t>Aarju Shrestha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E0D6F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D6F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D6F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D6F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334155"/>
                          </a:solidFill>
                        </a:rPr>
                        <a:t>Frontend, full-stack, databases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E0D6F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D6F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D6F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D6F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334155"/>
                          </a:solidFill>
                        </a:rPr>
                        <a:t>Firebase auth + database, frontend HTML/CSS, page routing, PIN system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E0D6F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D6F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D6F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D6F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20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334155"/>
                          </a:solidFill>
                        </a:rPr>
                        <a:t>Edward Hadnett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E0D6F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D6F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D6F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D6F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334155"/>
                          </a:solidFill>
                        </a:rPr>
                        <a:t>Cyber security, game development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E0D6F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D6F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D6F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D6F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334155"/>
                          </a:solidFill>
                        </a:rPr>
                        <a:t>Mini-games, multiplayer mechanics, system design diagrams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E0D6F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D6F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D6F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D6F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38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334155"/>
                          </a:solidFill>
                        </a:rPr>
                        <a:t>Nicholai Baes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E0D6F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D6F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D6F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D6F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334155"/>
                          </a:solidFill>
                        </a:rPr>
                        <a:t>Cyber security, networks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E0D6F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D6F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D6F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D6F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334155"/>
                          </a:solidFill>
                        </a:rPr>
                        <a:t>Sound design, accessibility features, QA, limitations, conclusion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E0D6F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D6F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D6F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D6F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7" name="Google Shape;97;p6"/>
          <p:cNvSpPr/>
          <p:nvPr/>
        </p:nvSpPr>
        <p:spPr>
          <a:xfrm>
            <a:off x="365760" y="3703320"/>
            <a:ext cx="2651760" cy="1051560"/>
          </a:xfrm>
          <a:prstGeom prst="rect">
            <a:avLst/>
          </a:prstGeom>
          <a:solidFill>
            <a:srgbClr val="F8F5FF"/>
          </a:solidFill>
          <a:ln cap="flat" cmpd="sng" w="12700">
            <a:solidFill>
              <a:srgbClr val="E0D6F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6"/>
          <p:cNvSpPr/>
          <p:nvPr/>
        </p:nvSpPr>
        <p:spPr>
          <a:xfrm>
            <a:off x="502920" y="3776472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04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1040"/>
                </a:solidFill>
              </a:rPr>
              <a:t>🔄 Iterative delivery</a:t>
            </a:r>
            <a:endParaRPr i="0" sz="1300" u="none" cap="none" strike="noStrike">
              <a:solidFill>
                <a:schemeClr val="dk1"/>
              </a:solidFill>
            </a:endParaRPr>
          </a:p>
        </p:txBody>
      </p:sp>
      <p:sp>
        <p:nvSpPr>
          <p:cNvPr id="99" name="Google Shape;99;p6"/>
          <p:cNvSpPr/>
          <p:nvPr/>
        </p:nvSpPr>
        <p:spPr>
          <a:xfrm>
            <a:off x="502920" y="4096512"/>
            <a:ext cx="23774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i="0" lang="en-US" sz="1100" u="none" cap="none" strike="noStrike">
                <a:solidFill>
                  <a:srgbClr val="64748B"/>
                </a:solidFill>
              </a:rPr>
              <a:t>Each sprint ended with a working demo</a:t>
            </a:r>
            <a:r>
              <a:rPr lang="en-US" sz="1100">
                <a:solidFill>
                  <a:srgbClr val="64748B"/>
                </a:solidFill>
              </a:rPr>
              <a:t>, </a:t>
            </a:r>
            <a:r>
              <a:rPr i="0" lang="en-US" sz="1100" u="none" cap="none" strike="noStrike">
                <a:solidFill>
                  <a:srgbClr val="64748B"/>
                </a:solidFill>
              </a:rPr>
              <a:t>not a list of promises.</a:t>
            </a:r>
            <a:endParaRPr i="0" sz="1100" u="none" cap="none" strike="noStrike">
              <a:solidFill>
                <a:schemeClr val="dk1"/>
              </a:solidFill>
            </a:endParaRPr>
          </a:p>
        </p:txBody>
      </p:sp>
      <p:sp>
        <p:nvSpPr>
          <p:cNvPr id="100" name="Google Shape;100;p6"/>
          <p:cNvSpPr/>
          <p:nvPr/>
        </p:nvSpPr>
        <p:spPr>
          <a:xfrm>
            <a:off x="3246120" y="3703320"/>
            <a:ext cx="2651760" cy="1051560"/>
          </a:xfrm>
          <a:prstGeom prst="rect">
            <a:avLst/>
          </a:prstGeom>
          <a:solidFill>
            <a:srgbClr val="F0F9FF"/>
          </a:solidFill>
          <a:ln cap="flat" cmpd="sng" w="12700">
            <a:solidFill>
              <a:srgbClr val="E0D6F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6"/>
          <p:cNvSpPr/>
          <p:nvPr/>
        </p:nvSpPr>
        <p:spPr>
          <a:xfrm>
            <a:off x="3383280" y="3776472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04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1040"/>
                </a:solidFill>
              </a:rPr>
              <a:t>💬 Honest reviews</a:t>
            </a:r>
            <a:endParaRPr i="0" sz="1300" u="none" cap="none" strike="noStrike">
              <a:solidFill>
                <a:schemeClr val="dk1"/>
              </a:solidFill>
            </a:endParaRPr>
          </a:p>
        </p:txBody>
      </p:sp>
      <p:sp>
        <p:nvSpPr>
          <p:cNvPr id="102" name="Google Shape;102;p6"/>
          <p:cNvSpPr/>
          <p:nvPr/>
        </p:nvSpPr>
        <p:spPr>
          <a:xfrm>
            <a:off x="3383280" y="4096512"/>
            <a:ext cx="23774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i="0" lang="en-US" sz="1100" u="none" cap="none" strike="noStrike">
                <a:solidFill>
                  <a:srgbClr val="64748B"/>
                </a:solidFill>
              </a:rPr>
              <a:t>Sprint meetings with Dr Chin kept us honest about what was done and what wasn't.</a:t>
            </a:r>
            <a:endParaRPr i="0" sz="1100" u="none" cap="none" strike="noStrike">
              <a:solidFill>
                <a:schemeClr val="dk1"/>
              </a:solidFill>
            </a:endParaRPr>
          </a:p>
        </p:txBody>
      </p:sp>
      <p:sp>
        <p:nvSpPr>
          <p:cNvPr id="103" name="Google Shape;103;p6"/>
          <p:cNvSpPr/>
          <p:nvPr/>
        </p:nvSpPr>
        <p:spPr>
          <a:xfrm>
            <a:off x="6126480" y="3703320"/>
            <a:ext cx="2651760" cy="1051560"/>
          </a:xfrm>
          <a:prstGeom prst="rect">
            <a:avLst/>
          </a:prstGeom>
          <a:solidFill>
            <a:srgbClr val="F8F5FF"/>
          </a:solidFill>
          <a:ln cap="flat" cmpd="sng" w="12700">
            <a:solidFill>
              <a:srgbClr val="E0D6F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6"/>
          <p:cNvSpPr/>
          <p:nvPr/>
        </p:nvSpPr>
        <p:spPr>
          <a:xfrm>
            <a:off x="6263640" y="3776472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04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1040"/>
                </a:solidFill>
              </a:rPr>
              <a:t>🛠️ Tools used</a:t>
            </a:r>
            <a:endParaRPr i="0" sz="1300" u="none" cap="none" strike="noStrike">
              <a:solidFill>
                <a:schemeClr val="dk1"/>
              </a:solidFill>
            </a:endParaRPr>
          </a:p>
        </p:txBody>
      </p:sp>
      <p:sp>
        <p:nvSpPr>
          <p:cNvPr id="105" name="Google Shape;105;p6"/>
          <p:cNvSpPr/>
          <p:nvPr/>
        </p:nvSpPr>
        <p:spPr>
          <a:xfrm>
            <a:off x="6263640" y="4096512"/>
            <a:ext cx="23774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i="0" lang="en-US" sz="1100" u="none" cap="none" strike="noStrike">
                <a:solidFill>
                  <a:srgbClr val="64748B"/>
                </a:solidFill>
              </a:rPr>
              <a:t>GitHub for version control, Trello for backlog, pull requests to keep main branch clean.</a:t>
            </a:r>
            <a:endParaRPr i="0" sz="1100" u="none" cap="none" strike="noStrike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7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6C2BD9"/>
          </a:solidFill>
          <a:ln cap="flat" cmpd="sng" w="12700">
            <a:solidFill>
              <a:srgbClr val="6C2B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7"/>
          <p:cNvSpPr/>
          <p:nvPr/>
        </p:nvSpPr>
        <p:spPr>
          <a:xfrm>
            <a:off x="0" y="4983480"/>
            <a:ext cx="9144000" cy="54864"/>
          </a:xfrm>
          <a:prstGeom prst="rect">
            <a:avLst/>
          </a:prstGeom>
          <a:solidFill>
            <a:srgbClr val="E8E0F8"/>
          </a:solidFill>
          <a:ln cap="flat" cmpd="sng" w="12700">
            <a:solidFill>
              <a:srgbClr val="E8E0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7"/>
          <p:cNvSpPr/>
          <p:nvPr/>
        </p:nvSpPr>
        <p:spPr>
          <a:xfrm>
            <a:off x="365760" y="4910328"/>
            <a:ext cx="84124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COMP2003 – Capture the Flag  |  Group 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7"/>
          <p:cNvSpPr/>
          <p:nvPr/>
        </p:nvSpPr>
        <p:spPr>
          <a:xfrm>
            <a:off x="365760" y="91440"/>
            <a:ext cx="84124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</a:rPr>
              <a:t>System Design</a:t>
            </a:r>
            <a:r>
              <a:rPr b="1" lang="en-US" sz="2200">
                <a:solidFill>
                  <a:srgbClr val="FFFFFF"/>
                </a:solidFill>
              </a:rPr>
              <a:t>: </a:t>
            </a:r>
            <a:r>
              <a:rPr b="1" i="0" lang="en-US" sz="2200" u="none" cap="none" strike="noStrike">
                <a:solidFill>
                  <a:srgbClr val="FFFFFF"/>
                </a:solidFill>
              </a:rPr>
              <a:t>Architecture &amp; Flow</a:t>
            </a:r>
            <a:endParaRPr i="0" sz="2200" u="none" cap="none" strike="noStrike">
              <a:solidFill>
                <a:schemeClr val="dk1"/>
              </a:solidFill>
            </a:endParaRPr>
          </a:p>
        </p:txBody>
      </p:sp>
      <p:sp>
        <p:nvSpPr>
          <p:cNvPr id="115" name="Google Shape;115;p7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i="1" lang="en-US" sz="1300" u="none" cap="none" strike="noStrike">
                <a:solidFill>
                  <a:srgbClr val="64748B"/>
                </a:solidFill>
              </a:rPr>
              <a:t>No custom server in the game path</a:t>
            </a:r>
            <a:r>
              <a:rPr i="1" lang="en-US" sz="1300">
                <a:solidFill>
                  <a:srgbClr val="64748B"/>
                </a:solidFill>
              </a:rPr>
              <a:t>, </a:t>
            </a:r>
            <a:r>
              <a:rPr i="1" lang="en-US" sz="1300" u="none" cap="none" strike="noStrike">
                <a:solidFill>
                  <a:srgbClr val="64748B"/>
                </a:solidFill>
              </a:rPr>
              <a:t>everything goes straight from the browser to Firebase. The only server we run is for AI question generation.</a:t>
            </a:r>
            <a:endParaRPr i="0" sz="1300" u="none" cap="none" strike="noStrike">
              <a:solidFill>
                <a:schemeClr val="dk1"/>
              </a:solidFill>
            </a:endParaRPr>
          </a:p>
        </p:txBody>
      </p:sp>
      <p:sp>
        <p:nvSpPr>
          <p:cNvPr id="116" name="Google Shape;116;p7"/>
          <p:cNvSpPr/>
          <p:nvPr/>
        </p:nvSpPr>
        <p:spPr>
          <a:xfrm>
            <a:off x="365760" y="1234440"/>
            <a:ext cx="4389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04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1040"/>
                </a:solidFill>
              </a:rPr>
              <a:t>Firestore Schema</a:t>
            </a:r>
            <a:endParaRPr i="0" sz="1300" u="none" cap="none" strike="noStrike">
              <a:solidFill>
                <a:schemeClr val="dk1"/>
              </a:solidFill>
            </a:endParaRPr>
          </a:p>
        </p:txBody>
      </p:sp>
      <p:graphicFrame>
        <p:nvGraphicFramePr>
          <p:cNvPr id="117" name="Google Shape;117;p7"/>
          <p:cNvGraphicFramePr/>
          <p:nvPr/>
        </p:nvGraphicFramePr>
        <p:xfrm>
          <a:off x="365760" y="153619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{66BD0347-69FE-4D0F-B21B-E627DB757176}</a:tableStyleId>
              </a:tblPr>
              <a:tblGrid>
                <a:gridCol w="2011675"/>
                <a:gridCol w="2377450"/>
              </a:tblGrid>
              <a:tr h="438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</a:rPr>
                        <a:t>Collection</a:t>
                      </a:r>
                      <a:endParaRPr sz="105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E0D6F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D6F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D6F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D6F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C2B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</a:rPr>
                        <a:t>Stores</a:t>
                      </a:r>
                      <a:endParaRPr sz="105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E0D6F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D6F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D6F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D6F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C2BD9"/>
                    </a:solidFill>
                  </a:tcPr>
                </a:tc>
              </a:tr>
              <a:tr h="438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334155"/>
                          </a:solidFill>
                        </a:rPr>
                        <a:t>users/{uid}</a:t>
                      </a:r>
                      <a:endParaRPr sz="105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E0D6F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D6F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D6F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D6F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334155"/>
                          </a:solidFill>
                        </a:rPr>
                        <a:t>Profile, email, role (student/teacher)</a:t>
                      </a:r>
                      <a:endParaRPr sz="105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E0D6F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D6F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D6F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D6F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38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334155"/>
                          </a:solidFill>
                        </a:rPr>
                        <a:t>rooms/{roomId}</a:t>
                      </a:r>
                      <a:endParaRPr sz="105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E0D6F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D6F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D6F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D6F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334155"/>
                          </a:solidFill>
                        </a:rPr>
                        <a:t>PIN code, status, host UID</a:t>
                      </a:r>
                      <a:endParaRPr sz="105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E0D6F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D6F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D6F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D6F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38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334155"/>
                          </a:solidFill>
                        </a:rPr>
                        <a:t>rooms/.../questions</a:t>
                      </a:r>
                      <a:endParaRPr sz="105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E0D6F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D6F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D6F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D6F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334155"/>
                          </a:solidFill>
                        </a:rPr>
                        <a:t>Question bank uploaded by teacher</a:t>
                      </a:r>
                      <a:endParaRPr sz="105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E0D6F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D6F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D6F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D6F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38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334155"/>
                          </a:solidFill>
                        </a:rPr>
                        <a:t>matches/{matchId}</a:t>
                      </a:r>
                      <a:endParaRPr sz="105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E0D6F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D6F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D6F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D6F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334155"/>
                          </a:solidFill>
                        </a:rPr>
                        <a:t>Match record, winner, timestamps</a:t>
                      </a:r>
                      <a:endParaRPr sz="105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E0D6F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D6F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D6F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D6F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38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334155"/>
                          </a:solidFill>
                        </a:rPr>
                        <a:t>matches/.../teams</a:t>
                      </a:r>
                      <a:endParaRPr sz="105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E0D6F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D6F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D6F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D6F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334155"/>
                          </a:solidFill>
                        </a:rPr>
                        <a:t>Team A and B running scores</a:t>
                      </a:r>
                      <a:endParaRPr sz="105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E0D6F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D6F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D6F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D6F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38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334155"/>
                          </a:solidFill>
                        </a:rPr>
                        <a:t>player_stats/{uid}</a:t>
                      </a:r>
                      <a:endParaRPr sz="105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E0D6F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D6F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D6F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D6F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334155"/>
                          </a:solidFill>
                        </a:rPr>
                        <a:t>Lifetime score and accuracy %</a:t>
                      </a:r>
                      <a:endParaRPr sz="105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E0D6F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D6F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D6F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D6F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8" name="Google Shape;118;p7"/>
          <p:cNvSpPr/>
          <p:nvPr/>
        </p:nvSpPr>
        <p:spPr>
          <a:xfrm>
            <a:off x="5120640" y="1234440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04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1040"/>
                </a:solidFill>
              </a:rPr>
              <a:t>Student Journey</a:t>
            </a:r>
            <a:endParaRPr i="0" sz="1300" u="none" cap="none" strike="noStrike">
              <a:solidFill>
                <a:schemeClr val="dk1"/>
              </a:solidFill>
            </a:endParaRPr>
          </a:p>
        </p:txBody>
      </p:sp>
      <p:sp>
        <p:nvSpPr>
          <p:cNvPr id="119" name="Google Shape;119;p7"/>
          <p:cNvSpPr/>
          <p:nvPr/>
        </p:nvSpPr>
        <p:spPr>
          <a:xfrm>
            <a:off x="5120640" y="1554480"/>
            <a:ext cx="310896" cy="310896"/>
          </a:xfrm>
          <a:prstGeom prst="ellipse">
            <a:avLst/>
          </a:prstGeom>
          <a:solidFill>
            <a:srgbClr val="E8E0F8"/>
          </a:solidFill>
          <a:ln cap="flat" cmpd="sng" w="12700">
            <a:solidFill>
              <a:srgbClr val="6C2B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7"/>
          <p:cNvSpPr/>
          <p:nvPr/>
        </p:nvSpPr>
        <p:spPr>
          <a:xfrm>
            <a:off x="5120640" y="1554480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🔐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7"/>
          <p:cNvSpPr/>
          <p:nvPr/>
        </p:nvSpPr>
        <p:spPr>
          <a:xfrm>
            <a:off x="5248656" y="1865376"/>
            <a:ext cx="54864" cy="182880"/>
          </a:xfrm>
          <a:prstGeom prst="rect">
            <a:avLst/>
          </a:prstGeom>
          <a:solidFill>
            <a:srgbClr val="C4B5FD"/>
          </a:solidFill>
          <a:ln cap="flat" cmpd="sng" w="12700">
            <a:solidFill>
              <a:srgbClr val="C4B5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7"/>
          <p:cNvSpPr/>
          <p:nvPr/>
        </p:nvSpPr>
        <p:spPr>
          <a:xfrm>
            <a:off x="5541264" y="1536192"/>
            <a:ext cx="1463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04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1040"/>
                </a:solidFill>
              </a:rPr>
              <a:t>Sign In</a:t>
            </a:r>
            <a:endParaRPr i="0" sz="1200" u="none" cap="none" strike="noStrike">
              <a:solidFill>
                <a:schemeClr val="dk1"/>
              </a:solidFill>
            </a:endParaRPr>
          </a:p>
        </p:txBody>
      </p:sp>
      <p:sp>
        <p:nvSpPr>
          <p:cNvPr id="123" name="Google Shape;123;p7"/>
          <p:cNvSpPr/>
          <p:nvPr/>
        </p:nvSpPr>
        <p:spPr>
          <a:xfrm>
            <a:off x="5541264" y="1737360"/>
            <a:ext cx="3200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i="0" lang="en-US" sz="1000" u="none" cap="none" strike="noStrike">
                <a:solidFill>
                  <a:srgbClr val="64748B"/>
                </a:solidFill>
              </a:rPr>
              <a:t>Google OAuth</a:t>
            </a:r>
            <a:endParaRPr i="0" sz="1000" u="none" cap="none" strike="noStrike">
              <a:solidFill>
                <a:schemeClr val="dk1"/>
              </a:solidFill>
            </a:endParaRPr>
          </a:p>
        </p:txBody>
      </p:sp>
      <p:sp>
        <p:nvSpPr>
          <p:cNvPr id="124" name="Google Shape;124;p7"/>
          <p:cNvSpPr/>
          <p:nvPr/>
        </p:nvSpPr>
        <p:spPr>
          <a:xfrm>
            <a:off x="5120640" y="2048256"/>
            <a:ext cx="310896" cy="310896"/>
          </a:xfrm>
          <a:prstGeom prst="ellipse">
            <a:avLst/>
          </a:prstGeom>
          <a:solidFill>
            <a:srgbClr val="E8E0F8"/>
          </a:solidFill>
          <a:ln cap="flat" cmpd="sng" w="12700">
            <a:solidFill>
              <a:srgbClr val="6C2B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7"/>
          <p:cNvSpPr/>
          <p:nvPr/>
        </p:nvSpPr>
        <p:spPr>
          <a:xfrm>
            <a:off x="5120640" y="2048256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📌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7"/>
          <p:cNvSpPr/>
          <p:nvPr/>
        </p:nvSpPr>
        <p:spPr>
          <a:xfrm>
            <a:off x="5248656" y="2359152"/>
            <a:ext cx="54864" cy="182880"/>
          </a:xfrm>
          <a:prstGeom prst="rect">
            <a:avLst/>
          </a:prstGeom>
          <a:solidFill>
            <a:srgbClr val="C4B5FD"/>
          </a:solidFill>
          <a:ln cap="flat" cmpd="sng" w="12700">
            <a:solidFill>
              <a:srgbClr val="C4B5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7"/>
          <p:cNvSpPr/>
          <p:nvPr/>
        </p:nvSpPr>
        <p:spPr>
          <a:xfrm>
            <a:off x="5541264" y="2029968"/>
            <a:ext cx="1463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04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1040"/>
                </a:solidFill>
              </a:rPr>
              <a:t>Enter PIN</a:t>
            </a:r>
            <a:endParaRPr i="0" sz="1200" u="none" cap="none" strike="noStrike">
              <a:solidFill>
                <a:schemeClr val="dk1"/>
              </a:solidFill>
            </a:endParaRPr>
          </a:p>
        </p:txBody>
      </p:sp>
      <p:sp>
        <p:nvSpPr>
          <p:cNvPr id="128" name="Google Shape;128;p7"/>
          <p:cNvSpPr/>
          <p:nvPr/>
        </p:nvSpPr>
        <p:spPr>
          <a:xfrm>
            <a:off x="5541264" y="2231136"/>
            <a:ext cx="3200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i="0" lang="en-US" sz="1000" u="none" cap="none" strike="noStrike">
                <a:solidFill>
                  <a:srgbClr val="64748B"/>
                </a:solidFill>
              </a:rPr>
              <a:t>Join the room</a:t>
            </a:r>
            <a:endParaRPr i="0" sz="1000" u="none" cap="none" strike="noStrike">
              <a:solidFill>
                <a:schemeClr val="dk1"/>
              </a:solidFill>
            </a:endParaRPr>
          </a:p>
        </p:txBody>
      </p:sp>
      <p:sp>
        <p:nvSpPr>
          <p:cNvPr id="129" name="Google Shape;129;p7"/>
          <p:cNvSpPr/>
          <p:nvPr/>
        </p:nvSpPr>
        <p:spPr>
          <a:xfrm>
            <a:off x="5120640" y="2542032"/>
            <a:ext cx="310896" cy="310896"/>
          </a:xfrm>
          <a:prstGeom prst="ellipse">
            <a:avLst/>
          </a:prstGeom>
          <a:solidFill>
            <a:srgbClr val="E8E0F8"/>
          </a:solidFill>
          <a:ln cap="flat" cmpd="sng" w="12700">
            <a:solidFill>
              <a:srgbClr val="6C2B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7"/>
          <p:cNvSpPr/>
          <p:nvPr/>
        </p:nvSpPr>
        <p:spPr>
          <a:xfrm>
            <a:off x="5120640" y="2542032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⚔️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7"/>
          <p:cNvSpPr/>
          <p:nvPr/>
        </p:nvSpPr>
        <p:spPr>
          <a:xfrm>
            <a:off x="5248656" y="2852928"/>
            <a:ext cx="54864" cy="182880"/>
          </a:xfrm>
          <a:prstGeom prst="rect">
            <a:avLst/>
          </a:prstGeom>
          <a:solidFill>
            <a:srgbClr val="C4B5FD"/>
          </a:solidFill>
          <a:ln cap="flat" cmpd="sng" w="12700">
            <a:solidFill>
              <a:srgbClr val="C4B5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7"/>
          <p:cNvSpPr/>
          <p:nvPr/>
        </p:nvSpPr>
        <p:spPr>
          <a:xfrm>
            <a:off x="5541264" y="2523744"/>
            <a:ext cx="1463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04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1040"/>
                </a:solidFill>
              </a:rPr>
              <a:t>Pick Role</a:t>
            </a:r>
            <a:endParaRPr i="0" sz="1200" u="none" cap="none" strike="noStrike">
              <a:solidFill>
                <a:schemeClr val="dk1"/>
              </a:solidFill>
            </a:endParaRPr>
          </a:p>
        </p:txBody>
      </p:sp>
      <p:sp>
        <p:nvSpPr>
          <p:cNvPr id="133" name="Google Shape;133;p7"/>
          <p:cNvSpPr/>
          <p:nvPr/>
        </p:nvSpPr>
        <p:spPr>
          <a:xfrm>
            <a:off x="5541264" y="2724912"/>
            <a:ext cx="3200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i="0" lang="en-US" sz="1000" u="none" cap="none" strike="noStrike">
                <a:solidFill>
                  <a:srgbClr val="64748B"/>
                </a:solidFill>
              </a:rPr>
              <a:t>Team A or B</a:t>
            </a:r>
            <a:endParaRPr i="0" sz="1000" u="none" cap="none" strike="noStrike">
              <a:solidFill>
                <a:schemeClr val="dk1"/>
              </a:solidFill>
            </a:endParaRPr>
          </a:p>
        </p:txBody>
      </p:sp>
      <p:sp>
        <p:nvSpPr>
          <p:cNvPr id="134" name="Google Shape;134;p7"/>
          <p:cNvSpPr/>
          <p:nvPr/>
        </p:nvSpPr>
        <p:spPr>
          <a:xfrm>
            <a:off x="5120640" y="3035808"/>
            <a:ext cx="310896" cy="310896"/>
          </a:xfrm>
          <a:prstGeom prst="ellipse">
            <a:avLst/>
          </a:prstGeom>
          <a:solidFill>
            <a:srgbClr val="E8E0F8"/>
          </a:solidFill>
          <a:ln cap="flat" cmpd="sng" w="12700">
            <a:solidFill>
              <a:srgbClr val="6C2B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7"/>
          <p:cNvSpPr/>
          <p:nvPr/>
        </p:nvSpPr>
        <p:spPr>
          <a:xfrm>
            <a:off x="5120640" y="3035808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⏳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7"/>
          <p:cNvSpPr/>
          <p:nvPr/>
        </p:nvSpPr>
        <p:spPr>
          <a:xfrm>
            <a:off x="5248656" y="3346704"/>
            <a:ext cx="54864" cy="182880"/>
          </a:xfrm>
          <a:prstGeom prst="rect">
            <a:avLst/>
          </a:prstGeom>
          <a:solidFill>
            <a:srgbClr val="C4B5FD"/>
          </a:solidFill>
          <a:ln cap="flat" cmpd="sng" w="12700">
            <a:solidFill>
              <a:srgbClr val="C4B5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7"/>
          <p:cNvSpPr/>
          <p:nvPr/>
        </p:nvSpPr>
        <p:spPr>
          <a:xfrm>
            <a:off x="5541264" y="3017520"/>
            <a:ext cx="1463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04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1040"/>
                </a:solidFill>
              </a:rPr>
              <a:t>Lobby</a:t>
            </a:r>
            <a:endParaRPr i="0" sz="1200" u="none" cap="none" strike="noStrike">
              <a:solidFill>
                <a:schemeClr val="dk1"/>
              </a:solidFill>
            </a:endParaRPr>
          </a:p>
        </p:txBody>
      </p:sp>
      <p:sp>
        <p:nvSpPr>
          <p:cNvPr id="138" name="Google Shape;138;p7"/>
          <p:cNvSpPr/>
          <p:nvPr/>
        </p:nvSpPr>
        <p:spPr>
          <a:xfrm>
            <a:off x="5541264" y="3218688"/>
            <a:ext cx="3200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i="0" lang="en-US" sz="1000" u="none" cap="none" strike="noStrike">
                <a:solidFill>
                  <a:srgbClr val="64748B"/>
                </a:solidFill>
              </a:rPr>
              <a:t>Wait for teacher</a:t>
            </a:r>
            <a:endParaRPr i="0" sz="1000" u="none" cap="none" strike="noStrike">
              <a:solidFill>
                <a:schemeClr val="dk1"/>
              </a:solidFill>
            </a:endParaRPr>
          </a:p>
        </p:txBody>
      </p:sp>
      <p:sp>
        <p:nvSpPr>
          <p:cNvPr id="139" name="Google Shape;139;p7"/>
          <p:cNvSpPr/>
          <p:nvPr/>
        </p:nvSpPr>
        <p:spPr>
          <a:xfrm>
            <a:off x="5120640" y="3529584"/>
            <a:ext cx="310896" cy="310896"/>
          </a:xfrm>
          <a:prstGeom prst="ellipse">
            <a:avLst/>
          </a:prstGeom>
          <a:solidFill>
            <a:srgbClr val="E8E0F8"/>
          </a:solidFill>
          <a:ln cap="flat" cmpd="sng" w="12700">
            <a:solidFill>
              <a:srgbClr val="6C2B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7"/>
          <p:cNvSpPr/>
          <p:nvPr/>
        </p:nvSpPr>
        <p:spPr>
          <a:xfrm>
            <a:off x="5120640" y="3529584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🧠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7"/>
          <p:cNvSpPr/>
          <p:nvPr/>
        </p:nvSpPr>
        <p:spPr>
          <a:xfrm>
            <a:off x="5248656" y="3840480"/>
            <a:ext cx="54864" cy="182880"/>
          </a:xfrm>
          <a:prstGeom prst="rect">
            <a:avLst/>
          </a:prstGeom>
          <a:solidFill>
            <a:srgbClr val="C4B5FD"/>
          </a:solidFill>
          <a:ln cap="flat" cmpd="sng" w="12700">
            <a:solidFill>
              <a:srgbClr val="C4B5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7"/>
          <p:cNvSpPr/>
          <p:nvPr/>
        </p:nvSpPr>
        <p:spPr>
          <a:xfrm>
            <a:off x="5541264" y="3511296"/>
            <a:ext cx="1463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04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1040"/>
                </a:solidFill>
              </a:rPr>
              <a:t>4 Questions</a:t>
            </a:r>
            <a:endParaRPr i="0" sz="1200" u="none" cap="none" strike="noStrike">
              <a:solidFill>
                <a:schemeClr val="dk1"/>
              </a:solidFill>
            </a:endParaRPr>
          </a:p>
        </p:txBody>
      </p:sp>
      <p:sp>
        <p:nvSpPr>
          <p:cNvPr id="143" name="Google Shape;143;p7"/>
          <p:cNvSpPr/>
          <p:nvPr/>
        </p:nvSpPr>
        <p:spPr>
          <a:xfrm>
            <a:off x="5541264" y="3712464"/>
            <a:ext cx="3200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i="0" lang="en-US" sz="1000" u="none" cap="none" strike="noStrike">
                <a:solidFill>
                  <a:srgbClr val="64748B"/>
                </a:solidFill>
              </a:rPr>
              <a:t>Timer + multiplier</a:t>
            </a:r>
            <a:endParaRPr i="0" sz="1000" u="none" cap="none" strike="noStrike">
              <a:solidFill>
                <a:schemeClr val="dk1"/>
              </a:solidFill>
            </a:endParaRPr>
          </a:p>
        </p:txBody>
      </p:sp>
      <p:sp>
        <p:nvSpPr>
          <p:cNvPr id="144" name="Google Shape;144;p7"/>
          <p:cNvSpPr/>
          <p:nvPr/>
        </p:nvSpPr>
        <p:spPr>
          <a:xfrm>
            <a:off x="5120640" y="4023360"/>
            <a:ext cx="310896" cy="310896"/>
          </a:xfrm>
          <a:prstGeom prst="ellipse">
            <a:avLst/>
          </a:prstGeom>
          <a:solidFill>
            <a:srgbClr val="E8E0F8"/>
          </a:solidFill>
          <a:ln cap="flat" cmpd="sng" w="12700">
            <a:solidFill>
              <a:srgbClr val="6C2B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7"/>
          <p:cNvSpPr/>
          <p:nvPr/>
        </p:nvSpPr>
        <p:spPr>
          <a:xfrm>
            <a:off x="5120640" y="4023360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🎮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7"/>
          <p:cNvSpPr/>
          <p:nvPr/>
        </p:nvSpPr>
        <p:spPr>
          <a:xfrm>
            <a:off x="5248656" y="4334256"/>
            <a:ext cx="54864" cy="182880"/>
          </a:xfrm>
          <a:prstGeom prst="rect">
            <a:avLst/>
          </a:prstGeom>
          <a:solidFill>
            <a:srgbClr val="C4B5FD"/>
          </a:solidFill>
          <a:ln cap="flat" cmpd="sng" w="12700">
            <a:solidFill>
              <a:srgbClr val="C4B5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7"/>
          <p:cNvSpPr/>
          <p:nvPr/>
        </p:nvSpPr>
        <p:spPr>
          <a:xfrm>
            <a:off x="5541264" y="4005072"/>
            <a:ext cx="1463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04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1040"/>
                </a:solidFill>
              </a:rPr>
              <a:t>Mini-Game</a:t>
            </a:r>
            <a:endParaRPr i="0" sz="1200" u="none" cap="none" strike="noStrike">
              <a:solidFill>
                <a:schemeClr val="dk1"/>
              </a:solidFill>
            </a:endParaRPr>
          </a:p>
        </p:txBody>
      </p:sp>
      <p:sp>
        <p:nvSpPr>
          <p:cNvPr id="148" name="Google Shape;148;p7"/>
          <p:cNvSpPr/>
          <p:nvPr/>
        </p:nvSpPr>
        <p:spPr>
          <a:xfrm>
            <a:off x="5541264" y="4206240"/>
            <a:ext cx="3200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i="0" lang="en-US" sz="1000" u="none" cap="none" strike="noStrike">
                <a:solidFill>
                  <a:srgbClr val="64748B"/>
                </a:solidFill>
              </a:rPr>
              <a:t>Score × multiplier</a:t>
            </a:r>
            <a:endParaRPr i="0" sz="1000" u="none" cap="none" strike="noStrike">
              <a:solidFill>
                <a:schemeClr val="dk1"/>
              </a:solidFill>
            </a:endParaRPr>
          </a:p>
        </p:txBody>
      </p:sp>
      <p:sp>
        <p:nvSpPr>
          <p:cNvPr id="149" name="Google Shape;149;p7"/>
          <p:cNvSpPr/>
          <p:nvPr/>
        </p:nvSpPr>
        <p:spPr>
          <a:xfrm>
            <a:off x="5120640" y="4517136"/>
            <a:ext cx="310896" cy="310896"/>
          </a:xfrm>
          <a:prstGeom prst="ellipse">
            <a:avLst/>
          </a:prstGeom>
          <a:solidFill>
            <a:srgbClr val="E8E0F8"/>
          </a:solidFill>
          <a:ln cap="flat" cmpd="sng" w="12700">
            <a:solidFill>
              <a:srgbClr val="6C2B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7"/>
          <p:cNvSpPr/>
          <p:nvPr/>
        </p:nvSpPr>
        <p:spPr>
          <a:xfrm>
            <a:off x="5120640" y="4517136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📊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7"/>
          <p:cNvSpPr/>
          <p:nvPr/>
        </p:nvSpPr>
        <p:spPr>
          <a:xfrm>
            <a:off x="5541264" y="4498848"/>
            <a:ext cx="1463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04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1040"/>
                </a:solidFill>
              </a:rPr>
              <a:t>Submit</a:t>
            </a:r>
            <a:endParaRPr i="0" sz="1200" u="none" cap="none" strike="noStrike">
              <a:solidFill>
                <a:schemeClr val="dk1"/>
              </a:solidFill>
            </a:endParaRPr>
          </a:p>
        </p:txBody>
      </p:sp>
      <p:sp>
        <p:nvSpPr>
          <p:cNvPr id="152" name="Google Shape;152;p7"/>
          <p:cNvSpPr/>
          <p:nvPr/>
        </p:nvSpPr>
        <p:spPr>
          <a:xfrm>
            <a:off x="5541264" y="4700016"/>
            <a:ext cx="3200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i="0" lang="en-US" sz="1000" u="none" cap="none" strike="noStrike">
                <a:solidFill>
                  <a:srgbClr val="64748B"/>
                </a:solidFill>
              </a:rPr>
              <a:t>Firebase gets the score</a:t>
            </a:r>
            <a:endParaRPr i="0" sz="1000" u="none" cap="none" strike="noStrike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8"/>
          <p:cNvSpPr/>
          <p:nvPr/>
        </p:nvSpPr>
        <p:spPr>
          <a:xfrm>
            <a:off x="4754875" y="1421325"/>
            <a:ext cx="3423600" cy="1578000"/>
          </a:xfrm>
          <a:prstGeom prst="rect">
            <a:avLst/>
          </a:prstGeom>
          <a:solidFill>
            <a:srgbClr val="F0ECFA"/>
          </a:solidFill>
          <a:ln cap="flat" cmpd="sng" w="25400">
            <a:solidFill>
              <a:srgbClr val="C4B5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8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6C2BD9"/>
          </a:solidFill>
          <a:ln cap="flat" cmpd="sng" w="12700">
            <a:solidFill>
              <a:srgbClr val="6C2B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8"/>
          <p:cNvSpPr/>
          <p:nvPr/>
        </p:nvSpPr>
        <p:spPr>
          <a:xfrm>
            <a:off x="0" y="4983480"/>
            <a:ext cx="9144000" cy="54864"/>
          </a:xfrm>
          <a:prstGeom prst="rect">
            <a:avLst/>
          </a:prstGeom>
          <a:solidFill>
            <a:srgbClr val="E8E0F8"/>
          </a:solidFill>
          <a:ln cap="flat" cmpd="sng" w="12700">
            <a:solidFill>
              <a:srgbClr val="E8E0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8"/>
          <p:cNvSpPr/>
          <p:nvPr/>
        </p:nvSpPr>
        <p:spPr>
          <a:xfrm>
            <a:off x="365760" y="4910328"/>
            <a:ext cx="84124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COMP2003 – Capture the Flag  |  Group 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8"/>
          <p:cNvSpPr/>
          <p:nvPr/>
        </p:nvSpPr>
        <p:spPr>
          <a:xfrm>
            <a:off x="365760" y="91440"/>
            <a:ext cx="84124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</a:rPr>
              <a:t>Firebase</a:t>
            </a:r>
            <a:r>
              <a:rPr b="1" lang="en-US" sz="2200">
                <a:solidFill>
                  <a:srgbClr val="FFFFFF"/>
                </a:solidFill>
              </a:rPr>
              <a:t>: </a:t>
            </a:r>
            <a:r>
              <a:rPr b="1" i="0" lang="en-US" sz="2200" u="none" cap="none" strike="noStrike">
                <a:solidFill>
                  <a:srgbClr val="FFFFFF"/>
                </a:solidFill>
              </a:rPr>
              <a:t>Authentication &amp; Real-Time Database</a:t>
            </a:r>
            <a:endParaRPr i="0" sz="2200" u="none" cap="none" strike="noStrike">
              <a:solidFill>
                <a:schemeClr val="dk1"/>
              </a:solidFill>
            </a:endParaRPr>
          </a:p>
        </p:txBody>
      </p:sp>
      <p:sp>
        <p:nvSpPr>
          <p:cNvPr id="163" name="Google Shape;163;p8"/>
          <p:cNvSpPr/>
          <p:nvPr/>
        </p:nvSpPr>
        <p:spPr>
          <a:xfrm>
            <a:off x="365760" y="749808"/>
            <a:ext cx="8412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i="1" lang="en-US" sz="1300" u="none" cap="none" strike="noStrike">
                <a:solidFill>
                  <a:srgbClr val="64748B"/>
                </a:solidFill>
              </a:rPr>
              <a:t>We used Firebase for everything backend</a:t>
            </a:r>
            <a:r>
              <a:rPr i="1" lang="en-US" sz="1300">
                <a:solidFill>
                  <a:srgbClr val="64748B"/>
                </a:solidFill>
              </a:rPr>
              <a:t>. I</a:t>
            </a:r>
            <a:r>
              <a:rPr i="1" lang="en-US" sz="1300" u="none" cap="none" strike="noStrike">
                <a:solidFill>
                  <a:srgbClr val="64748B"/>
                </a:solidFill>
              </a:rPr>
              <a:t>t meant no server to maintain and real-time updates out of the box.</a:t>
            </a:r>
            <a:endParaRPr i="0" sz="1300" u="none" cap="none" strike="noStrike">
              <a:solidFill>
                <a:schemeClr val="dk1"/>
              </a:solidFill>
            </a:endParaRPr>
          </a:p>
        </p:txBody>
      </p:sp>
      <p:sp>
        <p:nvSpPr>
          <p:cNvPr id="164" name="Google Shape;164;p8"/>
          <p:cNvSpPr/>
          <p:nvPr/>
        </p:nvSpPr>
        <p:spPr>
          <a:xfrm>
            <a:off x="365760" y="1170432"/>
            <a:ext cx="4114800" cy="777240"/>
          </a:xfrm>
          <a:prstGeom prst="rect">
            <a:avLst/>
          </a:prstGeom>
          <a:solidFill>
            <a:srgbClr val="F8F5FF"/>
          </a:solidFill>
          <a:ln cap="flat" cmpd="sng" w="12700">
            <a:solidFill>
              <a:srgbClr val="E0D6F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8"/>
          <p:cNvSpPr/>
          <p:nvPr/>
        </p:nvSpPr>
        <p:spPr>
          <a:xfrm>
            <a:off x="365760" y="1170432"/>
            <a:ext cx="54864" cy="777240"/>
          </a:xfrm>
          <a:prstGeom prst="rect">
            <a:avLst/>
          </a:prstGeom>
          <a:solidFill>
            <a:srgbClr val="6C2BD9"/>
          </a:solidFill>
          <a:ln cap="flat" cmpd="sng" w="12700">
            <a:solidFill>
              <a:srgbClr val="6C2B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8"/>
          <p:cNvSpPr/>
          <p:nvPr/>
        </p:nvSpPr>
        <p:spPr>
          <a:xfrm>
            <a:off x="548640" y="1243584"/>
            <a:ext cx="3749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040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E1040"/>
                </a:solidFill>
              </a:rPr>
              <a:t> Google Sign-In</a:t>
            </a:r>
            <a:endParaRPr i="0" sz="1250" u="none" cap="none" strike="noStrike">
              <a:solidFill>
                <a:schemeClr val="dk1"/>
              </a:solidFill>
            </a:endParaRPr>
          </a:p>
        </p:txBody>
      </p:sp>
      <p:sp>
        <p:nvSpPr>
          <p:cNvPr id="167" name="Google Shape;167;p8"/>
          <p:cNvSpPr/>
          <p:nvPr/>
        </p:nvSpPr>
        <p:spPr>
          <a:xfrm>
            <a:off x="548640" y="1536192"/>
            <a:ext cx="3749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i="0" lang="en-US" sz="1050" u="none" cap="none" strike="noStrike">
                <a:solidFill>
                  <a:srgbClr val="64748B"/>
                </a:solidFill>
              </a:rPr>
              <a:t>Two separate paths</a:t>
            </a:r>
            <a:r>
              <a:rPr lang="en-US" sz="1050">
                <a:solidFill>
                  <a:srgbClr val="64748B"/>
                </a:solidFill>
              </a:rPr>
              <a:t>: </a:t>
            </a:r>
            <a:r>
              <a:rPr i="0" lang="en-US" sz="1050" u="none" cap="none" strike="noStrike">
                <a:solidFill>
                  <a:srgbClr val="64748B"/>
                </a:solidFill>
              </a:rPr>
              <a:t>student and teacher. Role is checked from Firestore, not decided by which button you pressed.</a:t>
            </a:r>
            <a:endParaRPr i="0" sz="1050" u="none" cap="none" strike="noStrike">
              <a:solidFill>
                <a:schemeClr val="dk1"/>
              </a:solidFill>
            </a:endParaRPr>
          </a:p>
        </p:txBody>
      </p:sp>
      <p:sp>
        <p:nvSpPr>
          <p:cNvPr id="168" name="Google Shape;168;p8"/>
          <p:cNvSpPr/>
          <p:nvPr/>
        </p:nvSpPr>
        <p:spPr>
          <a:xfrm>
            <a:off x="365760" y="2084832"/>
            <a:ext cx="4114800" cy="777240"/>
          </a:xfrm>
          <a:prstGeom prst="rect">
            <a:avLst/>
          </a:prstGeom>
          <a:solidFill>
            <a:srgbClr val="F0F9FF"/>
          </a:solidFill>
          <a:ln cap="flat" cmpd="sng" w="12700">
            <a:solidFill>
              <a:srgbClr val="E0D6F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8"/>
          <p:cNvSpPr/>
          <p:nvPr/>
        </p:nvSpPr>
        <p:spPr>
          <a:xfrm>
            <a:off x="365760" y="2084832"/>
            <a:ext cx="54864" cy="777240"/>
          </a:xfrm>
          <a:prstGeom prst="rect">
            <a:avLst/>
          </a:prstGeom>
          <a:solidFill>
            <a:srgbClr val="6C2BD9"/>
          </a:solidFill>
          <a:ln cap="flat" cmpd="sng" w="12700">
            <a:solidFill>
              <a:srgbClr val="6C2B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8"/>
          <p:cNvSpPr/>
          <p:nvPr/>
        </p:nvSpPr>
        <p:spPr>
          <a:xfrm>
            <a:off x="548640" y="2157984"/>
            <a:ext cx="3749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040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E1040"/>
                </a:solidFill>
              </a:rPr>
              <a:t> 6-Digit PIN</a:t>
            </a:r>
            <a:endParaRPr i="0" sz="1250" u="none" cap="none" strike="noStrike">
              <a:solidFill>
                <a:schemeClr val="dk1"/>
              </a:solidFill>
            </a:endParaRPr>
          </a:p>
        </p:txBody>
      </p:sp>
      <p:sp>
        <p:nvSpPr>
          <p:cNvPr id="171" name="Google Shape;171;p8"/>
          <p:cNvSpPr/>
          <p:nvPr/>
        </p:nvSpPr>
        <p:spPr>
          <a:xfrm>
            <a:off x="548640" y="2450592"/>
            <a:ext cx="3749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i="0" lang="en-US" sz="1050" u="none" cap="none" strike="noStrike">
                <a:solidFill>
                  <a:srgbClr val="64748B"/>
                </a:solidFill>
              </a:rPr>
              <a:t>Teacher creates a room, gets a PIN. Student types it in, gets the roomId. Simple as that.</a:t>
            </a:r>
            <a:endParaRPr i="0" sz="1050" u="none" cap="none" strike="noStrike">
              <a:solidFill>
                <a:schemeClr val="dk1"/>
              </a:solidFill>
            </a:endParaRPr>
          </a:p>
        </p:txBody>
      </p:sp>
      <p:sp>
        <p:nvSpPr>
          <p:cNvPr id="172" name="Google Shape;172;p8"/>
          <p:cNvSpPr/>
          <p:nvPr/>
        </p:nvSpPr>
        <p:spPr>
          <a:xfrm>
            <a:off x="365760" y="2999232"/>
            <a:ext cx="4114800" cy="777240"/>
          </a:xfrm>
          <a:prstGeom prst="rect">
            <a:avLst/>
          </a:prstGeom>
          <a:solidFill>
            <a:srgbClr val="FEF9F0"/>
          </a:solidFill>
          <a:ln cap="flat" cmpd="sng" w="12700">
            <a:solidFill>
              <a:srgbClr val="E0D6F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8"/>
          <p:cNvSpPr/>
          <p:nvPr/>
        </p:nvSpPr>
        <p:spPr>
          <a:xfrm>
            <a:off x="365760" y="2999232"/>
            <a:ext cx="54864" cy="777240"/>
          </a:xfrm>
          <a:prstGeom prst="rect">
            <a:avLst/>
          </a:prstGeom>
          <a:solidFill>
            <a:srgbClr val="6C2BD9"/>
          </a:solidFill>
          <a:ln cap="flat" cmpd="sng" w="12700">
            <a:solidFill>
              <a:srgbClr val="6C2B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8"/>
          <p:cNvSpPr/>
          <p:nvPr/>
        </p:nvSpPr>
        <p:spPr>
          <a:xfrm>
            <a:off x="548640" y="3072384"/>
            <a:ext cx="3749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040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E1040"/>
                </a:solidFill>
              </a:rPr>
              <a:t> Live Scores</a:t>
            </a:r>
            <a:endParaRPr i="0" sz="1250" u="none" cap="none" strike="noStrike">
              <a:solidFill>
                <a:schemeClr val="dk1"/>
              </a:solidFill>
            </a:endParaRPr>
          </a:p>
        </p:txBody>
      </p:sp>
      <p:sp>
        <p:nvSpPr>
          <p:cNvPr id="175" name="Google Shape;175;p8"/>
          <p:cNvSpPr/>
          <p:nvPr/>
        </p:nvSpPr>
        <p:spPr>
          <a:xfrm>
            <a:off x="548640" y="3364992"/>
            <a:ext cx="3749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i="0" lang="en-US" sz="1050" u="none" cap="none" strike="noStrike">
                <a:solidFill>
                  <a:srgbClr val="64748B"/>
                </a:solidFill>
              </a:rPr>
              <a:t>onSnapshot listeners update both team scores in real time for every player</a:t>
            </a:r>
            <a:r>
              <a:rPr lang="en-US" sz="1050">
                <a:solidFill>
                  <a:srgbClr val="64748B"/>
                </a:solidFill>
              </a:rPr>
              <a:t>: </a:t>
            </a:r>
            <a:r>
              <a:rPr i="0" lang="en-US" sz="1050" u="none" cap="none" strike="noStrike">
                <a:solidFill>
                  <a:srgbClr val="64748B"/>
                </a:solidFill>
              </a:rPr>
              <a:t>no refresh, no polling.</a:t>
            </a:r>
            <a:endParaRPr i="0" sz="1050" u="none" cap="none" strike="noStrike">
              <a:solidFill>
                <a:schemeClr val="dk1"/>
              </a:solidFill>
            </a:endParaRPr>
          </a:p>
        </p:txBody>
      </p:sp>
      <p:sp>
        <p:nvSpPr>
          <p:cNvPr id="176" name="Google Shape;176;p8"/>
          <p:cNvSpPr/>
          <p:nvPr/>
        </p:nvSpPr>
        <p:spPr>
          <a:xfrm>
            <a:off x="365760" y="3913632"/>
            <a:ext cx="4114800" cy="777240"/>
          </a:xfrm>
          <a:prstGeom prst="rect">
            <a:avLst/>
          </a:prstGeom>
          <a:solidFill>
            <a:srgbClr val="F5F0FF"/>
          </a:solidFill>
          <a:ln cap="flat" cmpd="sng" w="12700">
            <a:solidFill>
              <a:srgbClr val="E0D6F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8"/>
          <p:cNvSpPr/>
          <p:nvPr/>
        </p:nvSpPr>
        <p:spPr>
          <a:xfrm>
            <a:off x="365760" y="3913632"/>
            <a:ext cx="54864" cy="777240"/>
          </a:xfrm>
          <a:prstGeom prst="rect">
            <a:avLst/>
          </a:prstGeom>
          <a:solidFill>
            <a:srgbClr val="6C2BD9"/>
          </a:solidFill>
          <a:ln cap="flat" cmpd="sng" w="12700">
            <a:solidFill>
              <a:srgbClr val="6C2B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8"/>
          <p:cNvSpPr/>
          <p:nvPr/>
        </p:nvSpPr>
        <p:spPr>
          <a:xfrm>
            <a:off x="548640" y="3986784"/>
            <a:ext cx="3749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040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E1040"/>
                </a:solidFill>
              </a:rPr>
              <a:t> Safe Writes</a:t>
            </a:r>
            <a:endParaRPr i="0" sz="1250" u="none" cap="none" strike="noStrike">
              <a:solidFill>
                <a:schemeClr val="dk1"/>
              </a:solidFill>
            </a:endParaRPr>
          </a:p>
        </p:txBody>
      </p:sp>
      <p:sp>
        <p:nvSpPr>
          <p:cNvPr id="179" name="Google Shape;179;p8"/>
          <p:cNvSpPr/>
          <p:nvPr/>
        </p:nvSpPr>
        <p:spPr>
          <a:xfrm>
            <a:off x="548640" y="4279392"/>
            <a:ext cx="3749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i="0" lang="en-US" sz="1050" u="none" cap="none" strike="noStrike">
                <a:solidFill>
                  <a:srgbClr val="64748B"/>
                </a:solidFill>
              </a:rPr>
              <a:t>increment() prevents race conditions when two students submit scores at the exact same moment.</a:t>
            </a:r>
            <a:endParaRPr i="0" sz="1050" u="none" cap="none" strike="noStrike">
              <a:solidFill>
                <a:schemeClr val="dk1"/>
              </a:solidFill>
            </a:endParaRPr>
          </a:p>
        </p:txBody>
      </p:sp>
      <p:sp>
        <p:nvSpPr>
          <p:cNvPr id="180" name="Google Shape;180;p8"/>
          <p:cNvSpPr/>
          <p:nvPr/>
        </p:nvSpPr>
        <p:spPr>
          <a:xfrm>
            <a:off x="4754880" y="1115568"/>
            <a:ext cx="4023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04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1040"/>
                </a:solidFill>
              </a:rPr>
              <a:t>Firebase Console</a:t>
            </a:r>
            <a:endParaRPr i="0" sz="1300" u="none" cap="none" strike="noStrike">
              <a:solidFill>
                <a:schemeClr val="dk1"/>
              </a:solidFill>
            </a:endParaRPr>
          </a:p>
        </p:txBody>
      </p:sp>
      <p:sp>
        <p:nvSpPr>
          <p:cNvPr id="181" name="Google Shape;181;p8"/>
          <p:cNvSpPr/>
          <p:nvPr/>
        </p:nvSpPr>
        <p:spPr>
          <a:xfrm>
            <a:off x="4754880" y="3063240"/>
            <a:ext cx="4023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04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1040"/>
                </a:solidFill>
              </a:rPr>
              <a:t>Live Game in Action</a:t>
            </a:r>
            <a:endParaRPr i="0" sz="1300" u="none" cap="none" strike="noStrike">
              <a:solidFill>
                <a:schemeClr val="dk1"/>
              </a:solidFill>
            </a:endParaRPr>
          </a:p>
        </p:txBody>
      </p:sp>
      <p:sp>
        <p:nvSpPr>
          <p:cNvPr id="182" name="Google Shape;182;p8"/>
          <p:cNvSpPr/>
          <p:nvPr/>
        </p:nvSpPr>
        <p:spPr>
          <a:xfrm>
            <a:off x="4754875" y="3365000"/>
            <a:ext cx="3423600" cy="1477200"/>
          </a:xfrm>
          <a:prstGeom prst="rect">
            <a:avLst/>
          </a:prstGeom>
          <a:solidFill>
            <a:srgbClr val="F0ECFA"/>
          </a:solidFill>
          <a:ln cap="flat" cmpd="sng" w="25400">
            <a:solidFill>
              <a:srgbClr val="C4B5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3" name="Google Shape;183;p8" title="Screenshot 2026-05-05 005117.png"/>
          <p:cNvPicPr preferRelativeResize="0"/>
          <p:nvPr/>
        </p:nvPicPr>
        <p:blipFill rotWithShape="1">
          <a:blip r:embed="rId3">
            <a:alphaModFix/>
          </a:blip>
          <a:srcRect b="0" l="0" r="6341" t="0"/>
          <a:stretch/>
        </p:blipFill>
        <p:spPr>
          <a:xfrm>
            <a:off x="4823225" y="1463049"/>
            <a:ext cx="3286897" cy="1508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8" title="Screenshot 2026-05-05 01071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09988" y="3406153"/>
            <a:ext cx="3313381" cy="1417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9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6C2BD9"/>
          </a:solidFill>
          <a:ln cap="flat" cmpd="sng" w="12700">
            <a:solidFill>
              <a:srgbClr val="6C2B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9"/>
          <p:cNvSpPr/>
          <p:nvPr/>
        </p:nvSpPr>
        <p:spPr>
          <a:xfrm>
            <a:off x="0" y="4983480"/>
            <a:ext cx="9144000" cy="54864"/>
          </a:xfrm>
          <a:prstGeom prst="rect">
            <a:avLst/>
          </a:prstGeom>
          <a:solidFill>
            <a:srgbClr val="E8E0F8"/>
          </a:solidFill>
          <a:ln cap="flat" cmpd="sng" w="12700">
            <a:solidFill>
              <a:srgbClr val="E8E0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9"/>
          <p:cNvSpPr/>
          <p:nvPr/>
        </p:nvSpPr>
        <p:spPr>
          <a:xfrm>
            <a:off x="365760" y="4910328"/>
            <a:ext cx="84124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COMP2003 – Capture the Flag  |  Group 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9"/>
          <p:cNvSpPr/>
          <p:nvPr/>
        </p:nvSpPr>
        <p:spPr>
          <a:xfrm>
            <a:off x="365760" y="91440"/>
            <a:ext cx="84124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</a:rPr>
              <a:t>AI Question Generation</a:t>
            </a:r>
            <a:endParaRPr i="0" sz="2200" u="none" cap="none" strike="noStrike">
              <a:solidFill>
                <a:schemeClr val="dk1"/>
              </a:solidFill>
            </a:endParaRPr>
          </a:p>
        </p:txBody>
      </p:sp>
      <p:sp>
        <p:nvSpPr>
          <p:cNvPr id="194" name="Google Shape;194;p9"/>
          <p:cNvSpPr/>
          <p:nvPr/>
        </p:nvSpPr>
        <p:spPr>
          <a:xfrm>
            <a:off x="365760" y="749808"/>
            <a:ext cx="8412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50"/>
              <a:buFont typeface="Calibri"/>
              <a:buNone/>
            </a:pPr>
            <a:r>
              <a:rPr i="1" lang="en-US" sz="1350" u="none" cap="none" strike="noStrike">
                <a:solidFill>
                  <a:srgbClr val="64748B"/>
                </a:solidFill>
              </a:rPr>
              <a:t>Teachers type a topic</a:t>
            </a:r>
            <a:r>
              <a:rPr i="1" lang="en-US" sz="1350">
                <a:solidFill>
                  <a:srgbClr val="64748B"/>
                </a:solidFill>
              </a:rPr>
              <a:t>, </a:t>
            </a:r>
            <a:r>
              <a:rPr i="1" lang="en-US" sz="1350" u="none" cap="none" strike="noStrike">
                <a:solidFill>
                  <a:srgbClr val="64748B"/>
                </a:solidFill>
              </a:rPr>
              <a:t>the AI does the work. They review it, fix anything wrong, and upload. Done.</a:t>
            </a:r>
            <a:endParaRPr i="0" sz="1350" u="none" cap="none" strike="noStrike">
              <a:solidFill>
                <a:schemeClr val="dk1"/>
              </a:solidFill>
            </a:endParaRPr>
          </a:p>
        </p:txBody>
      </p:sp>
      <p:sp>
        <p:nvSpPr>
          <p:cNvPr id="195" name="Google Shape;195;p9"/>
          <p:cNvSpPr/>
          <p:nvPr/>
        </p:nvSpPr>
        <p:spPr>
          <a:xfrm>
            <a:off x="292608" y="1170432"/>
            <a:ext cx="1508760" cy="822960"/>
          </a:xfrm>
          <a:prstGeom prst="rect">
            <a:avLst/>
          </a:prstGeom>
          <a:solidFill>
            <a:srgbClr val="F8F5FF"/>
          </a:solidFill>
          <a:ln cap="flat" cmpd="sng" w="12700">
            <a:solidFill>
              <a:srgbClr val="E0D6F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9"/>
          <p:cNvSpPr/>
          <p:nvPr/>
        </p:nvSpPr>
        <p:spPr>
          <a:xfrm>
            <a:off x="292608" y="1170432"/>
            <a:ext cx="15087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104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1040"/>
                </a:solidFill>
              </a:rPr>
              <a:t>Teacher</a:t>
            </a:r>
            <a:endParaRPr i="0" sz="1100" u="none" cap="none" strike="noStrike">
              <a:solidFill>
                <a:schemeClr val="dk1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104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1040"/>
                </a:solidFill>
              </a:rPr>
              <a:t>types topic</a:t>
            </a:r>
            <a:endParaRPr i="0" sz="1100" u="none" cap="none" strike="noStrike">
              <a:solidFill>
                <a:schemeClr val="dk1"/>
              </a:solidFill>
            </a:endParaRPr>
          </a:p>
        </p:txBody>
      </p:sp>
      <p:sp>
        <p:nvSpPr>
          <p:cNvPr id="197" name="Google Shape;197;p9"/>
          <p:cNvSpPr/>
          <p:nvPr/>
        </p:nvSpPr>
        <p:spPr>
          <a:xfrm>
            <a:off x="1801368" y="1170432"/>
            <a:ext cx="210312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C2BD9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6C2BD9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9"/>
          <p:cNvSpPr/>
          <p:nvPr/>
        </p:nvSpPr>
        <p:spPr>
          <a:xfrm>
            <a:off x="2011680" y="1170432"/>
            <a:ext cx="1508760" cy="822960"/>
          </a:xfrm>
          <a:prstGeom prst="rect">
            <a:avLst/>
          </a:prstGeom>
          <a:solidFill>
            <a:srgbClr val="EDE9FE"/>
          </a:solidFill>
          <a:ln cap="flat" cmpd="sng" w="12700">
            <a:solidFill>
              <a:srgbClr val="E0D6F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9"/>
          <p:cNvSpPr/>
          <p:nvPr/>
        </p:nvSpPr>
        <p:spPr>
          <a:xfrm>
            <a:off x="2011680" y="1170432"/>
            <a:ext cx="15087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104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1040"/>
                </a:solidFill>
              </a:rPr>
              <a:t>Node.js</a:t>
            </a:r>
            <a:endParaRPr i="0" sz="1100" u="none" cap="none" strike="noStrike">
              <a:solidFill>
                <a:schemeClr val="dk1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104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1040"/>
                </a:solidFill>
              </a:rPr>
              <a:t>sends to Ollama</a:t>
            </a:r>
            <a:endParaRPr i="0" sz="1100" u="none" cap="none" strike="noStrike">
              <a:solidFill>
                <a:schemeClr val="dk1"/>
              </a:solidFill>
            </a:endParaRPr>
          </a:p>
        </p:txBody>
      </p:sp>
      <p:sp>
        <p:nvSpPr>
          <p:cNvPr id="200" name="Google Shape;200;p9"/>
          <p:cNvSpPr/>
          <p:nvPr/>
        </p:nvSpPr>
        <p:spPr>
          <a:xfrm>
            <a:off x="3520440" y="1170432"/>
            <a:ext cx="210312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C2BD9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6C2BD9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9"/>
          <p:cNvSpPr/>
          <p:nvPr/>
        </p:nvSpPr>
        <p:spPr>
          <a:xfrm>
            <a:off x="3730752" y="1170432"/>
            <a:ext cx="1508760" cy="822960"/>
          </a:xfrm>
          <a:prstGeom prst="rect">
            <a:avLst/>
          </a:prstGeom>
          <a:solidFill>
            <a:srgbClr val="E0F2FE"/>
          </a:solidFill>
          <a:ln cap="flat" cmpd="sng" w="12700">
            <a:solidFill>
              <a:srgbClr val="E0D6F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9"/>
          <p:cNvSpPr/>
          <p:nvPr/>
        </p:nvSpPr>
        <p:spPr>
          <a:xfrm>
            <a:off x="3730752" y="1170432"/>
            <a:ext cx="15087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104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1040"/>
                </a:solidFill>
              </a:rPr>
              <a:t>Gemma3-4b</a:t>
            </a:r>
            <a:endParaRPr i="0" sz="1100" u="none" cap="none" strike="noStrike">
              <a:solidFill>
                <a:schemeClr val="dk1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104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1040"/>
                </a:solidFill>
              </a:rPr>
              <a:t>generates JSON</a:t>
            </a:r>
            <a:endParaRPr i="0" sz="1100" u="none" cap="none" strike="noStrike">
              <a:solidFill>
                <a:schemeClr val="dk1"/>
              </a:solidFill>
            </a:endParaRPr>
          </a:p>
        </p:txBody>
      </p:sp>
      <p:sp>
        <p:nvSpPr>
          <p:cNvPr id="203" name="Google Shape;203;p9"/>
          <p:cNvSpPr/>
          <p:nvPr/>
        </p:nvSpPr>
        <p:spPr>
          <a:xfrm>
            <a:off x="5239512" y="1170432"/>
            <a:ext cx="210312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C2BD9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6C2BD9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9"/>
          <p:cNvSpPr/>
          <p:nvPr/>
        </p:nvSpPr>
        <p:spPr>
          <a:xfrm>
            <a:off x="5449824" y="1170432"/>
            <a:ext cx="1508760" cy="822960"/>
          </a:xfrm>
          <a:prstGeom prst="rect">
            <a:avLst/>
          </a:prstGeom>
          <a:solidFill>
            <a:srgbClr val="FCE7F3"/>
          </a:solidFill>
          <a:ln cap="flat" cmpd="sng" w="12700">
            <a:solidFill>
              <a:srgbClr val="E0D6F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9"/>
          <p:cNvSpPr/>
          <p:nvPr/>
        </p:nvSpPr>
        <p:spPr>
          <a:xfrm>
            <a:off x="5449824" y="1170432"/>
            <a:ext cx="15087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104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1040"/>
                </a:solidFill>
              </a:rPr>
              <a:t>Cleanup</a:t>
            </a:r>
            <a:endParaRPr i="0" sz="1100" u="none" cap="none" strike="noStrike">
              <a:solidFill>
                <a:schemeClr val="dk1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104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1040"/>
                </a:solidFill>
              </a:rPr>
              <a:t>pipeline</a:t>
            </a:r>
            <a:endParaRPr i="0" sz="1100" u="none" cap="none" strike="noStrike">
              <a:solidFill>
                <a:schemeClr val="dk1"/>
              </a:solidFill>
            </a:endParaRPr>
          </a:p>
        </p:txBody>
      </p:sp>
      <p:sp>
        <p:nvSpPr>
          <p:cNvPr id="206" name="Google Shape;206;p9"/>
          <p:cNvSpPr/>
          <p:nvPr/>
        </p:nvSpPr>
        <p:spPr>
          <a:xfrm>
            <a:off x="6958584" y="1170432"/>
            <a:ext cx="210312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C2BD9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6C2BD9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9"/>
          <p:cNvSpPr/>
          <p:nvPr/>
        </p:nvSpPr>
        <p:spPr>
          <a:xfrm>
            <a:off x="7168896" y="1170432"/>
            <a:ext cx="1508760" cy="822960"/>
          </a:xfrm>
          <a:prstGeom prst="rect">
            <a:avLst/>
          </a:prstGeom>
          <a:solidFill>
            <a:srgbClr val="F0FFF4"/>
          </a:solidFill>
          <a:ln cap="flat" cmpd="sng" w="12700">
            <a:solidFill>
              <a:srgbClr val="E0D6F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9"/>
          <p:cNvSpPr/>
          <p:nvPr/>
        </p:nvSpPr>
        <p:spPr>
          <a:xfrm>
            <a:off x="7168896" y="1170432"/>
            <a:ext cx="15087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104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1040"/>
                </a:solidFill>
              </a:rPr>
              <a:t>Teacher</a:t>
            </a:r>
            <a:endParaRPr i="0" sz="1100" u="none" cap="none" strike="noStrike">
              <a:solidFill>
                <a:schemeClr val="dk1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104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1040"/>
                </a:solidFill>
              </a:rPr>
              <a:t>reviews + uploads</a:t>
            </a:r>
            <a:endParaRPr i="0" sz="1100" u="none" cap="none" strike="noStrike">
              <a:solidFill>
                <a:schemeClr val="dk1"/>
              </a:solidFill>
            </a:endParaRPr>
          </a:p>
        </p:txBody>
      </p:sp>
      <p:sp>
        <p:nvSpPr>
          <p:cNvPr id="209" name="Google Shape;209;p9"/>
          <p:cNvSpPr/>
          <p:nvPr/>
        </p:nvSpPr>
        <p:spPr>
          <a:xfrm>
            <a:off x="365760" y="2176272"/>
            <a:ext cx="4114800" cy="1188720"/>
          </a:xfrm>
          <a:prstGeom prst="rect">
            <a:avLst/>
          </a:prstGeom>
          <a:solidFill>
            <a:srgbClr val="F8F5FF"/>
          </a:solidFill>
          <a:ln cap="flat" cmpd="sng" w="12700">
            <a:solidFill>
              <a:srgbClr val="E0D6F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9"/>
          <p:cNvSpPr/>
          <p:nvPr/>
        </p:nvSpPr>
        <p:spPr>
          <a:xfrm>
            <a:off x="530352" y="2267712"/>
            <a:ext cx="3794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04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1040"/>
                </a:solidFill>
              </a:rPr>
              <a:t>Why Gemma3-4b?</a:t>
            </a:r>
            <a:endParaRPr i="0" sz="1300" u="none" cap="none" strike="noStrike">
              <a:solidFill>
                <a:schemeClr val="dk1"/>
              </a:solidFill>
            </a:endParaRPr>
          </a:p>
        </p:txBody>
      </p:sp>
      <p:sp>
        <p:nvSpPr>
          <p:cNvPr id="211" name="Google Shape;211;p9"/>
          <p:cNvSpPr/>
          <p:nvPr/>
        </p:nvSpPr>
        <p:spPr>
          <a:xfrm>
            <a:off x="530352" y="2596896"/>
            <a:ext cx="37947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i="0" lang="en-US" sz="1100" u="none" cap="none" strike="noStrike">
                <a:solidFill>
                  <a:srgbClr val="64748B"/>
                </a:solidFill>
              </a:rPr>
              <a:t>We tried the 1b model</a:t>
            </a:r>
            <a:r>
              <a:rPr lang="en-US" sz="1100">
                <a:solidFill>
                  <a:srgbClr val="64748B"/>
                </a:solidFill>
              </a:rPr>
              <a:t>, </a:t>
            </a:r>
            <a:r>
              <a:rPr i="0" lang="en-US" sz="1100" u="none" cap="none" strike="noStrike">
                <a:solidFill>
                  <a:srgbClr val="64748B"/>
                </a:solidFill>
              </a:rPr>
              <a:t>too inconsistent. Anything bigger than 4b was overkill for generating MCQs. 4b hit the sweet spot.</a:t>
            </a:r>
            <a:endParaRPr i="0" sz="1100" u="none" cap="none" strike="noStrike">
              <a:solidFill>
                <a:schemeClr val="dk1"/>
              </a:solidFill>
            </a:endParaRPr>
          </a:p>
        </p:txBody>
      </p:sp>
      <p:sp>
        <p:nvSpPr>
          <p:cNvPr id="212" name="Google Shape;212;p9"/>
          <p:cNvSpPr/>
          <p:nvPr/>
        </p:nvSpPr>
        <p:spPr>
          <a:xfrm>
            <a:off x="4709160" y="2176272"/>
            <a:ext cx="4114800" cy="11887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D6F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9"/>
          <p:cNvSpPr/>
          <p:nvPr/>
        </p:nvSpPr>
        <p:spPr>
          <a:xfrm>
            <a:off x="4873752" y="2267712"/>
            <a:ext cx="3794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04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1040"/>
                </a:solidFill>
              </a:rPr>
              <a:t>The prompt</a:t>
            </a:r>
            <a:endParaRPr i="0" sz="1300" u="none" cap="none" strike="noStrike">
              <a:solidFill>
                <a:schemeClr val="dk1"/>
              </a:solidFill>
            </a:endParaRPr>
          </a:p>
        </p:txBody>
      </p:sp>
      <p:sp>
        <p:nvSpPr>
          <p:cNvPr id="214" name="Google Shape;214;p9"/>
          <p:cNvSpPr/>
          <p:nvPr/>
        </p:nvSpPr>
        <p:spPr>
          <a:xfrm>
            <a:off x="4873752" y="2596896"/>
            <a:ext cx="37947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i="0" lang="en-US" sz="1100" u="none" cap="none" strike="noStrike">
                <a:solidFill>
                  <a:srgbClr val="64748B"/>
                </a:solidFill>
              </a:rPr>
              <a:t>We tell it: JSON only, 8 questions, keys 0–7, four answers each, no extra text. It took a few iterations to get this right.</a:t>
            </a:r>
            <a:endParaRPr i="0" sz="1100" u="none" cap="none" strike="noStrike">
              <a:solidFill>
                <a:schemeClr val="dk1"/>
              </a:solidFill>
            </a:endParaRPr>
          </a:p>
        </p:txBody>
      </p:sp>
      <p:sp>
        <p:nvSpPr>
          <p:cNvPr id="215" name="Google Shape;215;p9"/>
          <p:cNvSpPr/>
          <p:nvPr/>
        </p:nvSpPr>
        <p:spPr>
          <a:xfrm>
            <a:off x="365760" y="3529584"/>
            <a:ext cx="4114800" cy="1188720"/>
          </a:xfrm>
          <a:prstGeom prst="rect">
            <a:avLst/>
          </a:prstGeom>
          <a:solidFill>
            <a:srgbClr val="F8F5FF"/>
          </a:solidFill>
          <a:ln cap="flat" cmpd="sng" w="12700">
            <a:solidFill>
              <a:srgbClr val="E0D6F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9"/>
          <p:cNvSpPr/>
          <p:nvPr/>
        </p:nvSpPr>
        <p:spPr>
          <a:xfrm>
            <a:off x="530352" y="3621024"/>
            <a:ext cx="3794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04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1040"/>
                </a:solidFill>
              </a:rPr>
              <a:t>Why a cleanup step?</a:t>
            </a:r>
            <a:endParaRPr i="0" sz="1300" u="none" cap="none" strike="noStrike">
              <a:solidFill>
                <a:schemeClr val="dk1"/>
              </a:solidFill>
            </a:endParaRPr>
          </a:p>
        </p:txBody>
      </p:sp>
      <p:sp>
        <p:nvSpPr>
          <p:cNvPr id="217" name="Google Shape;217;p9"/>
          <p:cNvSpPr/>
          <p:nvPr/>
        </p:nvSpPr>
        <p:spPr>
          <a:xfrm>
            <a:off x="530352" y="3950208"/>
            <a:ext cx="37947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i="0" lang="en-US" sz="1100" u="none" cap="none" strike="noStrike">
                <a:solidFill>
                  <a:srgbClr val="64748B"/>
                </a:solidFill>
              </a:rPr>
              <a:t>The model sometimes wraps the JSON in extra text despite instructions. We strip that out with .replace() and brace extraction.</a:t>
            </a:r>
            <a:endParaRPr i="0" sz="1100" u="none" cap="none" strike="noStrike">
              <a:solidFill>
                <a:schemeClr val="dk1"/>
              </a:solidFill>
            </a:endParaRPr>
          </a:p>
        </p:txBody>
      </p:sp>
      <p:sp>
        <p:nvSpPr>
          <p:cNvPr id="218" name="Google Shape;218;p9"/>
          <p:cNvSpPr/>
          <p:nvPr/>
        </p:nvSpPr>
        <p:spPr>
          <a:xfrm>
            <a:off x="4709160" y="3529584"/>
            <a:ext cx="4114800" cy="11887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D6F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9"/>
          <p:cNvSpPr/>
          <p:nvPr/>
        </p:nvSpPr>
        <p:spPr>
          <a:xfrm>
            <a:off x="4873752" y="3621024"/>
            <a:ext cx="3794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04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1040"/>
                </a:solidFill>
              </a:rPr>
              <a:t>The editor</a:t>
            </a:r>
            <a:endParaRPr i="0" sz="1300" u="none" cap="none" strike="noStrike">
              <a:solidFill>
                <a:schemeClr val="dk1"/>
              </a:solidFill>
            </a:endParaRPr>
          </a:p>
        </p:txBody>
      </p:sp>
      <p:sp>
        <p:nvSpPr>
          <p:cNvPr id="220" name="Google Shape;220;p9"/>
          <p:cNvSpPr/>
          <p:nvPr/>
        </p:nvSpPr>
        <p:spPr>
          <a:xfrm>
            <a:off x="4873752" y="3950208"/>
            <a:ext cx="37947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i="0" lang="en-US" sz="1100" u="none" cap="none" strike="noStrike">
                <a:solidFill>
                  <a:srgbClr val="64748B"/>
                </a:solidFill>
              </a:rPr>
              <a:t>Rather than making teachers edit JSON manually, we built a form editor</a:t>
            </a:r>
            <a:r>
              <a:rPr lang="en-US" sz="1100">
                <a:solidFill>
                  <a:srgbClr val="64748B"/>
                </a:solidFill>
              </a:rPr>
              <a:t>: </a:t>
            </a:r>
            <a:r>
              <a:rPr i="0" lang="en-US" sz="1100" u="none" cap="none" strike="noStrike">
                <a:solidFill>
                  <a:srgbClr val="64748B"/>
                </a:solidFill>
              </a:rPr>
              <a:t>click, type, save. No coding needed.</a:t>
            </a:r>
            <a:endParaRPr i="0" sz="1100" u="none" cap="none" strike="noStrike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0"/>
          <p:cNvSpPr/>
          <p:nvPr/>
        </p:nvSpPr>
        <p:spPr>
          <a:xfrm>
            <a:off x="6894607" y="2254061"/>
            <a:ext cx="1965900" cy="2541900"/>
          </a:xfrm>
          <a:prstGeom prst="rect">
            <a:avLst/>
          </a:prstGeom>
          <a:solidFill>
            <a:srgbClr val="F0F9FF"/>
          </a:solidFill>
          <a:ln cap="flat" cmpd="sng" w="12700">
            <a:solidFill>
              <a:srgbClr val="E0D6F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0"/>
          <p:cNvSpPr/>
          <p:nvPr/>
        </p:nvSpPr>
        <p:spPr>
          <a:xfrm>
            <a:off x="4718347" y="2254074"/>
            <a:ext cx="1965900" cy="2541900"/>
          </a:xfrm>
          <a:prstGeom prst="rect">
            <a:avLst/>
          </a:prstGeom>
          <a:solidFill>
            <a:srgbClr val="F8F5FF"/>
          </a:solidFill>
          <a:ln cap="flat" cmpd="sng" w="12700">
            <a:solidFill>
              <a:srgbClr val="E0D6F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6C2BD9"/>
          </a:solidFill>
          <a:ln cap="flat" cmpd="sng" w="12700">
            <a:solidFill>
              <a:srgbClr val="6C2B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0"/>
          <p:cNvSpPr/>
          <p:nvPr/>
        </p:nvSpPr>
        <p:spPr>
          <a:xfrm>
            <a:off x="0" y="4983480"/>
            <a:ext cx="9144000" cy="54864"/>
          </a:xfrm>
          <a:prstGeom prst="rect">
            <a:avLst/>
          </a:prstGeom>
          <a:solidFill>
            <a:srgbClr val="E8E0F8"/>
          </a:solidFill>
          <a:ln cap="flat" cmpd="sng" w="12700">
            <a:solidFill>
              <a:srgbClr val="E8E0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0"/>
          <p:cNvSpPr/>
          <p:nvPr/>
        </p:nvSpPr>
        <p:spPr>
          <a:xfrm>
            <a:off x="365760" y="4910328"/>
            <a:ext cx="84124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COMP2003 – Capture the Flag  |  Group 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0"/>
          <p:cNvSpPr/>
          <p:nvPr/>
        </p:nvSpPr>
        <p:spPr>
          <a:xfrm>
            <a:off x="365760" y="91440"/>
            <a:ext cx="84124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</a:rPr>
              <a:t>Game Development</a:t>
            </a:r>
            <a:endParaRPr i="0" sz="2200" u="none" cap="none" strike="noStrike">
              <a:solidFill>
                <a:schemeClr val="dk1"/>
              </a:solidFill>
            </a:endParaRPr>
          </a:p>
        </p:txBody>
      </p:sp>
      <p:sp>
        <p:nvSpPr>
          <p:cNvPr id="232" name="Google Shape;232;p10"/>
          <p:cNvSpPr/>
          <p:nvPr/>
        </p:nvSpPr>
        <p:spPr>
          <a:xfrm>
            <a:off x="365760" y="749808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04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1040"/>
                </a:solidFill>
              </a:rPr>
              <a:t>The Loop</a:t>
            </a:r>
            <a:endParaRPr i="0" sz="1300" u="none" cap="none" strike="noStrike">
              <a:solidFill>
                <a:schemeClr val="dk1"/>
              </a:solidFill>
            </a:endParaRPr>
          </a:p>
        </p:txBody>
      </p:sp>
      <p:sp>
        <p:nvSpPr>
          <p:cNvPr id="233" name="Google Shape;233;p10"/>
          <p:cNvSpPr/>
          <p:nvPr/>
        </p:nvSpPr>
        <p:spPr>
          <a:xfrm>
            <a:off x="292608" y="1051560"/>
            <a:ext cx="1097280" cy="676656"/>
          </a:xfrm>
          <a:prstGeom prst="roundRect">
            <a:avLst>
              <a:gd fmla="val 10811" name="adj"/>
            </a:avLst>
          </a:prstGeom>
          <a:solidFill>
            <a:srgbClr val="E8E0F8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0"/>
          <p:cNvSpPr/>
          <p:nvPr/>
        </p:nvSpPr>
        <p:spPr>
          <a:xfrm>
            <a:off x="292608" y="1051560"/>
            <a:ext cx="1097280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1040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E1040"/>
                </a:solidFill>
              </a:rPr>
              <a:t>Join</a:t>
            </a:r>
            <a:endParaRPr i="0" sz="950" u="none" cap="none" strike="noStrike">
              <a:solidFill>
                <a:schemeClr val="dk1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1040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E1040"/>
                </a:solidFill>
              </a:rPr>
              <a:t>Lobby</a:t>
            </a:r>
            <a:endParaRPr i="0" sz="950" u="none" cap="none" strike="noStrike">
              <a:solidFill>
                <a:schemeClr val="dk1"/>
              </a:solidFill>
            </a:endParaRPr>
          </a:p>
        </p:txBody>
      </p:sp>
      <p:sp>
        <p:nvSpPr>
          <p:cNvPr id="235" name="Google Shape;235;p10"/>
          <p:cNvSpPr/>
          <p:nvPr/>
        </p:nvSpPr>
        <p:spPr>
          <a:xfrm>
            <a:off x="1389888" y="1051560"/>
            <a:ext cx="128016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C2BD9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6C2BD9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0"/>
          <p:cNvSpPr/>
          <p:nvPr/>
        </p:nvSpPr>
        <p:spPr>
          <a:xfrm>
            <a:off x="1517904" y="1051560"/>
            <a:ext cx="1097280" cy="676656"/>
          </a:xfrm>
          <a:prstGeom prst="roundRect">
            <a:avLst>
              <a:gd fmla="val 10811" name="adj"/>
            </a:avLst>
          </a:prstGeom>
          <a:solidFill>
            <a:srgbClr val="DDD6FE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0"/>
          <p:cNvSpPr/>
          <p:nvPr/>
        </p:nvSpPr>
        <p:spPr>
          <a:xfrm>
            <a:off x="1517904" y="1051560"/>
            <a:ext cx="1097280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1040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E1040"/>
                </a:solidFill>
              </a:rPr>
              <a:t>Answer</a:t>
            </a:r>
            <a:endParaRPr i="0" sz="950" u="none" cap="none" strike="noStrike">
              <a:solidFill>
                <a:schemeClr val="dk1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1040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E1040"/>
                </a:solidFill>
              </a:rPr>
              <a:t>4 Questions</a:t>
            </a:r>
            <a:endParaRPr i="0" sz="950" u="none" cap="none" strike="noStrike">
              <a:solidFill>
                <a:schemeClr val="dk1"/>
              </a:solidFill>
            </a:endParaRPr>
          </a:p>
        </p:txBody>
      </p:sp>
      <p:sp>
        <p:nvSpPr>
          <p:cNvPr id="238" name="Google Shape;238;p10"/>
          <p:cNvSpPr/>
          <p:nvPr/>
        </p:nvSpPr>
        <p:spPr>
          <a:xfrm>
            <a:off x="2615184" y="1051560"/>
            <a:ext cx="128016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C2BD9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6C2BD9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0"/>
          <p:cNvSpPr/>
          <p:nvPr/>
        </p:nvSpPr>
        <p:spPr>
          <a:xfrm>
            <a:off x="2743200" y="1051560"/>
            <a:ext cx="1097280" cy="676656"/>
          </a:xfrm>
          <a:prstGeom prst="roundRect">
            <a:avLst>
              <a:gd fmla="val 10811" name="adj"/>
            </a:avLst>
          </a:prstGeom>
          <a:solidFill>
            <a:srgbClr val="C4B5FD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10"/>
          <p:cNvSpPr/>
          <p:nvPr/>
        </p:nvSpPr>
        <p:spPr>
          <a:xfrm>
            <a:off x="2743200" y="1051560"/>
            <a:ext cx="1097280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1040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E1040"/>
                </a:solidFill>
              </a:rPr>
              <a:t>Build</a:t>
            </a:r>
            <a:endParaRPr i="0" sz="950" u="none" cap="none" strike="noStrike">
              <a:solidFill>
                <a:schemeClr val="dk1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1040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E1040"/>
                </a:solidFill>
              </a:rPr>
              <a:t>Multiplier</a:t>
            </a:r>
            <a:endParaRPr i="0" sz="950" u="none" cap="none" strike="noStrike">
              <a:solidFill>
                <a:schemeClr val="dk1"/>
              </a:solidFill>
            </a:endParaRPr>
          </a:p>
        </p:txBody>
      </p:sp>
      <p:sp>
        <p:nvSpPr>
          <p:cNvPr id="241" name="Google Shape;241;p10"/>
          <p:cNvSpPr/>
          <p:nvPr/>
        </p:nvSpPr>
        <p:spPr>
          <a:xfrm>
            <a:off x="3840480" y="1051560"/>
            <a:ext cx="128016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C2BD9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6C2BD9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0"/>
          <p:cNvSpPr/>
          <p:nvPr/>
        </p:nvSpPr>
        <p:spPr>
          <a:xfrm>
            <a:off x="3968496" y="1051560"/>
            <a:ext cx="1097280" cy="676656"/>
          </a:xfrm>
          <a:prstGeom prst="roundRect">
            <a:avLst>
              <a:gd fmla="val 10811" name="adj"/>
            </a:avLst>
          </a:prstGeom>
          <a:solidFill>
            <a:srgbClr val="A78BFA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0"/>
          <p:cNvSpPr/>
          <p:nvPr/>
        </p:nvSpPr>
        <p:spPr>
          <a:xfrm>
            <a:off x="3968496" y="1051560"/>
            <a:ext cx="1097280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1040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E1040"/>
                </a:solidFill>
              </a:rPr>
              <a:t>Briefing</a:t>
            </a:r>
            <a:endParaRPr i="0" sz="950" u="none" cap="none" strike="noStrike">
              <a:solidFill>
                <a:schemeClr val="dk1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1040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E1040"/>
                </a:solidFill>
              </a:rPr>
              <a:t>Screen</a:t>
            </a:r>
            <a:endParaRPr i="0" sz="950" u="none" cap="none" strike="noStrike">
              <a:solidFill>
                <a:schemeClr val="dk1"/>
              </a:solidFill>
            </a:endParaRPr>
          </a:p>
        </p:txBody>
      </p:sp>
      <p:sp>
        <p:nvSpPr>
          <p:cNvPr id="244" name="Google Shape;244;p10"/>
          <p:cNvSpPr/>
          <p:nvPr/>
        </p:nvSpPr>
        <p:spPr>
          <a:xfrm>
            <a:off x="5065776" y="1051560"/>
            <a:ext cx="128016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C2BD9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6C2BD9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0"/>
          <p:cNvSpPr/>
          <p:nvPr/>
        </p:nvSpPr>
        <p:spPr>
          <a:xfrm>
            <a:off x="5193792" y="1051560"/>
            <a:ext cx="1097280" cy="676656"/>
          </a:xfrm>
          <a:prstGeom prst="roundRect">
            <a:avLst>
              <a:gd fmla="val 10811" name="adj"/>
            </a:avLst>
          </a:prstGeom>
          <a:solidFill>
            <a:srgbClr val="8B5CF6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0"/>
          <p:cNvSpPr/>
          <p:nvPr/>
        </p:nvSpPr>
        <p:spPr>
          <a:xfrm>
            <a:off x="5193792" y="1051560"/>
            <a:ext cx="1097280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1040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E1040"/>
                </a:solidFill>
              </a:rPr>
              <a:t>Play</a:t>
            </a:r>
            <a:endParaRPr i="0" sz="950" u="none" cap="none" strike="noStrike">
              <a:solidFill>
                <a:schemeClr val="dk1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1040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E1040"/>
                </a:solidFill>
              </a:rPr>
              <a:t>Game</a:t>
            </a:r>
            <a:endParaRPr i="0" sz="950" u="none" cap="none" strike="noStrike">
              <a:solidFill>
                <a:schemeClr val="dk1"/>
              </a:solidFill>
            </a:endParaRPr>
          </a:p>
        </p:txBody>
      </p:sp>
      <p:sp>
        <p:nvSpPr>
          <p:cNvPr id="247" name="Google Shape;247;p10"/>
          <p:cNvSpPr/>
          <p:nvPr/>
        </p:nvSpPr>
        <p:spPr>
          <a:xfrm>
            <a:off x="6291072" y="1051560"/>
            <a:ext cx="128016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C2BD9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6C2BD9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0"/>
          <p:cNvSpPr/>
          <p:nvPr/>
        </p:nvSpPr>
        <p:spPr>
          <a:xfrm>
            <a:off x="6419088" y="1051560"/>
            <a:ext cx="1097280" cy="676656"/>
          </a:xfrm>
          <a:prstGeom prst="roundRect">
            <a:avLst>
              <a:gd fmla="val 10811" name="adj"/>
            </a:avLst>
          </a:prstGeom>
          <a:solidFill>
            <a:srgbClr val="7C3AED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0"/>
          <p:cNvSpPr/>
          <p:nvPr/>
        </p:nvSpPr>
        <p:spPr>
          <a:xfrm>
            <a:off x="6419088" y="1051560"/>
            <a:ext cx="1097280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1040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E1040"/>
                </a:solidFill>
              </a:rPr>
              <a:t>Score</a:t>
            </a:r>
            <a:endParaRPr i="0" sz="950" u="none" cap="none" strike="noStrike">
              <a:solidFill>
                <a:schemeClr val="dk1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1040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E1040"/>
                </a:solidFill>
              </a:rPr>
              <a:t>Submitted</a:t>
            </a:r>
            <a:endParaRPr i="0" sz="950" u="none" cap="none" strike="noStrike">
              <a:solidFill>
                <a:schemeClr val="dk1"/>
              </a:solidFill>
            </a:endParaRPr>
          </a:p>
        </p:txBody>
      </p:sp>
      <p:sp>
        <p:nvSpPr>
          <p:cNvPr id="250" name="Google Shape;250;p10"/>
          <p:cNvSpPr/>
          <p:nvPr/>
        </p:nvSpPr>
        <p:spPr>
          <a:xfrm>
            <a:off x="7516368" y="1051560"/>
            <a:ext cx="128016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C2BD9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6C2BD9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0"/>
          <p:cNvSpPr/>
          <p:nvPr/>
        </p:nvSpPr>
        <p:spPr>
          <a:xfrm>
            <a:off x="7644384" y="1051560"/>
            <a:ext cx="1097280" cy="676656"/>
          </a:xfrm>
          <a:prstGeom prst="roundRect">
            <a:avLst>
              <a:gd fmla="val 10811" name="adj"/>
            </a:avLst>
          </a:prstGeom>
          <a:solidFill>
            <a:srgbClr val="6D28D9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0"/>
          <p:cNvSpPr/>
          <p:nvPr/>
        </p:nvSpPr>
        <p:spPr>
          <a:xfrm>
            <a:off x="7644384" y="1051560"/>
            <a:ext cx="1097280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1040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E1040"/>
                </a:solidFill>
              </a:rPr>
              <a:t>Loop or</a:t>
            </a:r>
            <a:endParaRPr i="0" sz="950" u="none" cap="none" strike="noStrike">
              <a:solidFill>
                <a:schemeClr val="dk1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1040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E1040"/>
                </a:solidFill>
              </a:rPr>
              <a:t>Finish</a:t>
            </a:r>
            <a:endParaRPr i="0" sz="950" u="none" cap="none" strike="noStrike">
              <a:solidFill>
                <a:schemeClr val="dk1"/>
              </a:solidFill>
            </a:endParaRPr>
          </a:p>
        </p:txBody>
      </p:sp>
      <p:sp>
        <p:nvSpPr>
          <p:cNvPr id="253" name="Google Shape;253;p10"/>
          <p:cNvSpPr/>
          <p:nvPr/>
        </p:nvSpPr>
        <p:spPr>
          <a:xfrm>
            <a:off x="365760" y="1883664"/>
            <a:ext cx="8412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04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1040"/>
                </a:solidFill>
              </a:rPr>
              <a:t>The Mini-Games </a:t>
            </a:r>
            <a:r>
              <a:rPr b="1" lang="en-US" sz="1300">
                <a:solidFill>
                  <a:srgbClr val="1E1040"/>
                </a:solidFill>
              </a:rPr>
              <a:t>- </a:t>
            </a:r>
            <a:r>
              <a:rPr b="1" i="0" lang="en-US" sz="1300" u="none" cap="none" strike="noStrike">
                <a:solidFill>
                  <a:srgbClr val="1E1040"/>
                </a:solidFill>
              </a:rPr>
              <a:t>built in Unity, exported as WebGL, embedded in an iframe</a:t>
            </a:r>
            <a:endParaRPr i="0" sz="1300" u="none" cap="none" strike="noStrike">
              <a:solidFill>
                <a:schemeClr val="dk1"/>
              </a:solidFill>
            </a:endParaRPr>
          </a:p>
        </p:txBody>
      </p:sp>
      <p:sp>
        <p:nvSpPr>
          <p:cNvPr id="254" name="Google Shape;254;p10"/>
          <p:cNvSpPr/>
          <p:nvPr/>
        </p:nvSpPr>
        <p:spPr>
          <a:xfrm>
            <a:off x="365760" y="2231136"/>
            <a:ext cx="1965960" cy="2542032"/>
          </a:xfrm>
          <a:prstGeom prst="rect">
            <a:avLst/>
          </a:prstGeom>
          <a:solidFill>
            <a:srgbClr val="F8F5FF"/>
          </a:solidFill>
          <a:ln cap="flat" cmpd="sng" w="12700">
            <a:solidFill>
              <a:srgbClr val="E0D6F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0"/>
          <p:cNvSpPr/>
          <p:nvPr/>
        </p:nvSpPr>
        <p:spPr>
          <a:xfrm>
            <a:off x="365835" y="2404939"/>
            <a:ext cx="1965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104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1040"/>
                </a:solidFill>
              </a:rPr>
              <a:t>Stacker</a:t>
            </a:r>
            <a:endParaRPr b="1" i="0" sz="1300" u="none" cap="none" strike="noStrike">
              <a:solidFill>
                <a:srgbClr val="1E1040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104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1040"/>
                </a:solidFill>
              </a:rPr>
              <a:t> </a:t>
            </a:r>
            <a:r>
              <a:rPr lang="en-US" sz="1050">
                <a:solidFill>
                  <a:srgbClr val="64748B"/>
                </a:solidFill>
              </a:rPr>
              <a:t>Drop blocks to build</a:t>
            </a:r>
            <a:endParaRPr sz="105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64748B"/>
                </a:solidFill>
              </a:rPr>
              <a:t>the tallest tower. SPACE to drop.</a:t>
            </a:r>
            <a:endParaRPr b="1" sz="1300">
              <a:solidFill>
                <a:srgbClr val="1E1040"/>
              </a:solidFill>
            </a:endParaRPr>
          </a:p>
        </p:txBody>
      </p:sp>
      <p:sp>
        <p:nvSpPr>
          <p:cNvPr id="256" name="Google Shape;256;p10"/>
          <p:cNvSpPr/>
          <p:nvPr/>
        </p:nvSpPr>
        <p:spPr>
          <a:xfrm>
            <a:off x="2542032" y="2231136"/>
            <a:ext cx="1965960" cy="2542032"/>
          </a:xfrm>
          <a:prstGeom prst="rect">
            <a:avLst/>
          </a:prstGeom>
          <a:solidFill>
            <a:srgbClr val="F0F9FF"/>
          </a:solidFill>
          <a:ln cap="flat" cmpd="sng" w="12700">
            <a:solidFill>
              <a:srgbClr val="E0D6F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0"/>
          <p:cNvSpPr/>
          <p:nvPr/>
        </p:nvSpPr>
        <p:spPr>
          <a:xfrm>
            <a:off x="2542057" y="2404952"/>
            <a:ext cx="1965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104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1040"/>
                </a:solidFill>
              </a:rPr>
              <a:t>Jumper</a:t>
            </a:r>
            <a:endParaRPr b="1" i="0" sz="1300" u="none" cap="none" strike="noStrike">
              <a:solidFill>
                <a:srgbClr val="1E104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64748B"/>
                </a:solidFill>
              </a:rPr>
              <a:t>Jump over obstacles</a:t>
            </a:r>
            <a:endParaRPr sz="105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64748B"/>
                </a:solidFill>
              </a:rPr>
              <a:t>moving left. Speed increases.</a:t>
            </a:r>
            <a:endParaRPr b="1" sz="1300">
              <a:solidFill>
                <a:srgbClr val="1E1040"/>
              </a:solidFill>
            </a:endParaRPr>
          </a:p>
        </p:txBody>
      </p:sp>
      <p:sp>
        <p:nvSpPr>
          <p:cNvPr id="258" name="Google Shape;258;p10"/>
          <p:cNvSpPr/>
          <p:nvPr/>
        </p:nvSpPr>
        <p:spPr>
          <a:xfrm>
            <a:off x="4718319" y="2443802"/>
            <a:ext cx="1965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1040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E1040"/>
                </a:solidFill>
              </a:rPr>
              <a:t>Flapper</a:t>
            </a:r>
            <a:endParaRPr b="1" i="0" sz="1300" u="none" cap="none" strike="noStrike">
              <a:solidFill>
                <a:srgbClr val="1E104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64748B"/>
                </a:solidFill>
              </a:rPr>
              <a:t>Fly through a random gap in each obstacle.</a:t>
            </a:r>
            <a:endParaRPr b="1" sz="1300">
              <a:solidFill>
                <a:srgbClr val="1E1040"/>
              </a:solidFill>
            </a:endParaRPr>
          </a:p>
        </p:txBody>
      </p:sp>
      <p:sp>
        <p:nvSpPr>
          <p:cNvPr id="259" name="Google Shape;259;p10"/>
          <p:cNvSpPr/>
          <p:nvPr/>
        </p:nvSpPr>
        <p:spPr>
          <a:xfrm>
            <a:off x="6894607" y="2443802"/>
            <a:ext cx="1965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1040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E1040"/>
                </a:solidFill>
              </a:rPr>
              <a:t>Snake</a:t>
            </a:r>
            <a:endParaRPr b="1" i="0" sz="1300" u="none" cap="none" strike="noStrike">
              <a:solidFill>
                <a:srgbClr val="1E104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64748B"/>
                </a:solidFill>
              </a:rPr>
              <a:t>Eat collectables to grow. Avoid your own tail.</a:t>
            </a:r>
            <a:endParaRPr b="1" sz="1300">
              <a:solidFill>
                <a:srgbClr val="1E1040"/>
              </a:solidFill>
            </a:endParaRPr>
          </a:p>
        </p:txBody>
      </p:sp>
      <p:pic>
        <p:nvPicPr>
          <p:cNvPr id="260" name="Google Shape;260;p10" title="Screenshot 2026-05-05 010547.png"/>
          <p:cNvPicPr preferRelativeResize="0"/>
          <p:nvPr/>
        </p:nvPicPr>
        <p:blipFill rotWithShape="1">
          <a:blip r:embed="rId3">
            <a:alphaModFix/>
          </a:blip>
          <a:srcRect b="0" l="17266" r="23011" t="0"/>
          <a:stretch/>
        </p:blipFill>
        <p:spPr>
          <a:xfrm>
            <a:off x="365750" y="2888950"/>
            <a:ext cx="1965975" cy="1866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10" title="Screenshot 2026-05-05 010509.png"/>
          <p:cNvPicPr preferRelativeResize="0"/>
          <p:nvPr/>
        </p:nvPicPr>
        <p:blipFill rotWithShape="1">
          <a:blip r:embed="rId4">
            <a:alphaModFix/>
          </a:blip>
          <a:srcRect b="0" l="0" r="40776" t="0"/>
          <a:stretch/>
        </p:blipFill>
        <p:spPr>
          <a:xfrm>
            <a:off x="2542050" y="2888950"/>
            <a:ext cx="1965977" cy="1866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10" title="Screenshot 2026-05-05 015107.png"/>
          <p:cNvPicPr preferRelativeResize="0"/>
          <p:nvPr/>
        </p:nvPicPr>
        <p:blipFill rotWithShape="1">
          <a:blip r:embed="rId5">
            <a:alphaModFix/>
          </a:blip>
          <a:srcRect b="0" l="10242" r="31797" t="0"/>
          <a:stretch/>
        </p:blipFill>
        <p:spPr>
          <a:xfrm>
            <a:off x="4721304" y="2888075"/>
            <a:ext cx="1965900" cy="1907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10" title="Screenshot 2026-05-05 015454.png"/>
          <p:cNvPicPr preferRelativeResize="0"/>
          <p:nvPr/>
        </p:nvPicPr>
        <p:blipFill rotWithShape="1">
          <a:blip r:embed="rId6">
            <a:alphaModFix/>
          </a:blip>
          <a:srcRect b="0" l="16550" r="28229" t="0"/>
          <a:stretch/>
        </p:blipFill>
        <p:spPr>
          <a:xfrm>
            <a:off x="6893212" y="2908375"/>
            <a:ext cx="1965901" cy="1866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1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6C2BD9"/>
          </a:solidFill>
          <a:ln cap="flat" cmpd="sng" w="12700">
            <a:solidFill>
              <a:srgbClr val="6C2B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11"/>
          <p:cNvSpPr/>
          <p:nvPr/>
        </p:nvSpPr>
        <p:spPr>
          <a:xfrm>
            <a:off x="0" y="4983480"/>
            <a:ext cx="9144000" cy="54864"/>
          </a:xfrm>
          <a:prstGeom prst="rect">
            <a:avLst/>
          </a:prstGeom>
          <a:solidFill>
            <a:srgbClr val="E8E0F8"/>
          </a:solidFill>
          <a:ln cap="flat" cmpd="sng" w="12700">
            <a:solidFill>
              <a:srgbClr val="E8E0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11"/>
          <p:cNvSpPr/>
          <p:nvPr/>
        </p:nvSpPr>
        <p:spPr>
          <a:xfrm>
            <a:off x="365760" y="4910328"/>
            <a:ext cx="84124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COMP2003 – Capture the Flag  |  Group 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1"/>
          <p:cNvSpPr/>
          <p:nvPr/>
        </p:nvSpPr>
        <p:spPr>
          <a:xfrm>
            <a:off x="365760" y="91440"/>
            <a:ext cx="84124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</a:rPr>
              <a:t>Frontend Design &amp; Accessibility</a:t>
            </a:r>
            <a:endParaRPr i="0" sz="2200" u="none" cap="none" strike="noStrike">
              <a:solidFill>
                <a:schemeClr val="dk1"/>
              </a:solidFill>
            </a:endParaRPr>
          </a:p>
        </p:txBody>
      </p:sp>
      <p:sp>
        <p:nvSpPr>
          <p:cNvPr id="273" name="Google Shape;273;p11"/>
          <p:cNvSpPr/>
          <p:nvPr/>
        </p:nvSpPr>
        <p:spPr>
          <a:xfrm>
            <a:off x="365760" y="749808"/>
            <a:ext cx="8412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i="1" lang="en-US" sz="1300" u="none" cap="none" strike="noStrike">
                <a:solidFill>
                  <a:srgbClr val="64748B"/>
                </a:solidFill>
              </a:rPr>
              <a:t>No frameworks</a:t>
            </a:r>
            <a:r>
              <a:rPr i="1" lang="en-US" sz="1300">
                <a:solidFill>
                  <a:srgbClr val="64748B"/>
                </a:solidFill>
              </a:rPr>
              <a:t>: </a:t>
            </a:r>
            <a:r>
              <a:rPr i="1" lang="en-US" sz="1300" u="none" cap="none" strike="noStrike">
                <a:solidFill>
                  <a:srgbClr val="64748B"/>
                </a:solidFill>
              </a:rPr>
              <a:t>just HTML, CSS and vanilla JavaScript. Nine pages, each with one job.</a:t>
            </a:r>
            <a:endParaRPr i="0" sz="1300" u="none" cap="none" strike="noStrike">
              <a:solidFill>
                <a:schemeClr val="dk1"/>
              </a:solidFill>
            </a:endParaRPr>
          </a:p>
        </p:txBody>
      </p:sp>
      <p:sp>
        <p:nvSpPr>
          <p:cNvPr id="274" name="Google Shape;274;p11"/>
          <p:cNvSpPr/>
          <p:nvPr/>
        </p:nvSpPr>
        <p:spPr>
          <a:xfrm>
            <a:off x="365760" y="1170432"/>
            <a:ext cx="4206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04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1040"/>
                </a:solidFill>
              </a:rPr>
              <a:t>Design</a:t>
            </a:r>
            <a:endParaRPr i="0" sz="1300" u="none" cap="none" strike="noStrike">
              <a:solidFill>
                <a:schemeClr val="dk1"/>
              </a:solidFill>
            </a:endParaRPr>
          </a:p>
        </p:txBody>
      </p:sp>
      <p:sp>
        <p:nvSpPr>
          <p:cNvPr id="275" name="Google Shape;275;p11"/>
          <p:cNvSpPr/>
          <p:nvPr/>
        </p:nvSpPr>
        <p:spPr>
          <a:xfrm>
            <a:off x="365760" y="1481328"/>
            <a:ext cx="4206240" cy="566928"/>
          </a:xfrm>
          <a:prstGeom prst="rect">
            <a:avLst/>
          </a:prstGeom>
          <a:solidFill>
            <a:srgbClr val="F8F5FF"/>
          </a:solidFill>
          <a:ln cap="flat" cmpd="sng" w="12700">
            <a:solidFill>
              <a:srgbClr val="E0D6F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1"/>
          <p:cNvSpPr/>
          <p:nvPr/>
        </p:nvSpPr>
        <p:spPr>
          <a:xfrm>
            <a:off x="457200" y="1527048"/>
            <a:ext cx="365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🎨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1"/>
          <p:cNvSpPr/>
          <p:nvPr/>
        </p:nvSpPr>
        <p:spPr>
          <a:xfrm>
            <a:off x="914400" y="1517904"/>
            <a:ext cx="3566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i="0" lang="en-US" sz="1100" u="none" cap="none" strike="noStrike">
                <a:solidFill>
                  <a:srgbClr val="334155"/>
                </a:solidFill>
              </a:rPr>
              <a:t>Retro hacker aesthetic</a:t>
            </a:r>
            <a:r>
              <a:rPr lang="en-US" sz="1100">
                <a:solidFill>
                  <a:srgbClr val="334155"/>
                </a:solidFill>
              </a:rPr>
              <a:t>, </a:t>
            </a:r>
            <a:r>
              <a:rPr i="0" lang="en-US" sz="1100" u="none" cap="none" strike="noStrike">
                <a:solidFill>
                  <a:srgbClr val="334155"/>
                </a:solidFill>
              </a:rPr>
              <a:t>dark background, purple primary (#6c2bd9), cyan highlights (#00e5ff)</a:t>
            </a:r>
            <a:endParaRPr i="0" sz="1100" u="none" cap="none" strike="noStrike">
              <a:solidFill>
                <a:schemeClr val="dk1"/>
              </a:solidFill>
            </a:endParaRPr>
          </a:p>
        </p:txBody>
      </p:sp>
      <p:sp>
        <p:nvSpPr>
          <p:cNvPr id="278" name="Google Shape;278;p11"/>
          <p:cNvSpPr/>
          <p:nvPr/>
        </p:nvSpPr>
        <p:spPr>
          <a:xfrm>
            <a:off x="365760" y="2139696"/>
            <a:ext cx="4206240" cy="56692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D6F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1"/>
          <p:cNvSpPr/>
          <p:nvPr/>
        </p:nvSpPr>
        <p:spPr>
          <a:xfrm>
            <a:off x="457200" y="2185416"/>
            <a:ext cx="365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📱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1"/>
          <p:cNvSpPr/>
          <p:nvPr/>
        </p:nvSpPr>
        <p:spPr>
          <a:xfrm>
            <a:off x="914400" y="2176272"/>
            <a:ext cx="3566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i="0" lang="en-US" sz="1100" u="none" cap="none" strike="noStrike">
                <a:solidFill>
                  <a:srgbClr val="334155"/>
                </a:solidFill>
              </a:rPr>
              <a:t>Responsive at 1000px and 700px</a:t>
            </a:r>
            <a:r>
              <a:rPr lang="en-US" sz="1100">
                <a:solidFill>
                  <a:srgbClr val="334155"/>
                </a:solidFill>
              </a:rPr>
              <a:t>, </a:t>
            </a:r>
            <a:r>
              <a:rPr i="0" lang="en-US" sz="1100" u="none" cap="none" strike="noStrike">
                <a:solidFill>
                  <a:srgbClr val="334155"/>
                </a:solidFill>
              </a:rPr>
              <a:t>mascot hides on mobile, cards stack on narrow screens</a:t>
            </a:r>
            <a:endParaRPr i="0" sz="1100" u="none" cap="none" strike="noStrike">
              <a:solidFill>
                <a:schemeClr val="dk1"/>
              </a:solidFill>
            </a:endParaRPr>
          </a:p>
        </p:txBody>
      </p:sp>
      <p:sp>
        <p:nvSpPr>
          <p:cNvPr id="281" name="Google Shape;281;p11"/>
          <p:cNvSpPr/>
          <p:nvPr/>
        </p:nvSpPr>
        <p:spPr>
          <a:xfrm>
            <a:off x="365760" y="2798064"/>
            <a:ext cx="4206240" cy="566928"/>
          </a:xfrm>
          <a:prstGeom prst="rect">
            <a:avLst/>
          </a:prstGeom>
          <a:solidFill>
            <a:srgbClr val="F8F5FF"/>
          </a:solidFill>
          <a:ln cap="flat" cmpd="sng" w="12700">
            <a:solidFill>
              <a:srgbClr val="E0D6F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1"/>
          <p:cNvSpPr/>
          <p:nvPr/>
        </p:nvSpPr>
        <p:spPr>
          <a:xfrm>
            <a:off x="457200" y="2843784"/>
            <a:ext cx="365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⏱️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1"/>
          <p:cNvSpPr/>
          <p:nvPr/>
        </p:nvSpPr>
        <p:spPr>
          <a:xfrm>
            <a:off x="914400" y="2834640"/>
            <a:ext cx="3566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i="0" lang="en-US" sz="1100" u="none" cap="none" strike="noStrike">
                <a:solidFill>
                  <a:srgbClr val="334155"/>
                </a:solidFill>
              </a:rPr>
              <a:t>Quiz timer bar shrinks over 10 seconds with a CSS transition, turns red at 3 seconds left</a:t>
            </a:r>
            <a:endParaRPr i="0" sz="1100" u="none" cap="none" strike="noStrike">
              <a:solidFill>
                <a:schemeClr val="dk1"/>
              </a:solidFill>
            </a:endParaRPr>
          </a:p>
        </p:txBody>
      </p:sp>
      <p:sp>
        <p:nvSpPr>
          <p:cNvPr id="284" name="Google Shape;284;p11"/>
          <p:cNvSpPr/>
          <p:nvPr/>
        </p:nvSpPr>
        <p:spPr>
          <a:xfrm>
            <a:off x="365760" y="3456432"/>
            <a:ext cx="4206240" cy="56692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D6F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1"/>
          <p:cNvSpPr/>
          <p:nvPr/>
        </p:nvSpPr>
        <p:spPr>
          <a:xfrm>
            <a:off x="457200" y="3502152"/>
            <a:ext cx="365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🔊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1"/>
          <p:cNvSpPr/>
          <p:nvPr/>
        </p:nvSpPr>
        <p:spPr>
          <a:xfrm>
            <a:off x="914400" y="3493008"/>
            <a:ext cx="3566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i="0" lang="en-US" sz="1100" u="none" cap="none" strike="noStrike">
                <a:solidFill>
                  <a:srgbClr val="334155"/>
                </a:solidFill>
              </a:rPr>
              <a:t>Click and confirm sounds via Web Audio API when selecting roles and joining</a:t>
            </a:r>
            <a:endParaRPr i="0" sz="1100" u="none" cap="none" strike="noStrike">
              <a:solidFill>
                <a:schemeClr val="dk1"/>
              </a:solidFill>
            </a:endParaRPr>
          </a:p>
        </p:txBody>
      </p:sp>
      <p:sp>
        <p:nvSpPr>
          <p:cNvPr id="287" name="Google Shape;287;p11"/>
          <p:cNvSpPr/>
          <p:nvPr/>
        </p:nvSpPr>
        <p:spPr>
          <a:xfrm>
            <a:off x="365760" y="4114800"/>
            <a:ext cx="4206240" cy="566928"/>
          </a:xfrm>
          <a:prstGeom prst="rect">
            <a:avLst/>
          </a:prstGeom>
          <a:solidFill>
            <a:srgbClr val="F8F5FF"/>
          </a:solidFill>
          <a:ln cap="flat" cmpd="sng" w="12700">
            <a:solidFill>
              <a:srgbClr val="E0D6F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1"/>
          <p:cNvSpPr/>
          <p:nvPr/>
        </p:nvSpPr>
        <p:spPr>
          <a:xfrm>
            <a:off x="457200" y="4160520"/>
            <a:ext cx="365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🌐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1"/>
          <p:cNvSpPr/>
          <p:nvPr/>
        </p:nvSpPr>
        <p:spPr>
          <a:xfrm>
            <a:off x="914400" y="4151376"/>
            <a:ext cx="3566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i="0" lang="en-US" sz="1100" u="none" cap="none" strike="noStrike">
                <a:solidFill>
                  <a:srgbClr val="334155"/>
                </a:solidFill>
              </a:rPr>
              <a:t>Session state lives in localStorage</a:t>
            </a:r>
            <a:r>
              <a:rPr lang="en-US" sz="1100">
                <a:solidFill>
                  <a:srgbClr val="334155"/>
                </a:solidFill>
              </a:rPr>
              <a:t>, </a:t>
            </a:r>
            <a:r>
              <a:rPr i="0" lang="en-US" sz="1100" u="none" cap="none" strike="noStrike">
                <a:solidFill>
                  <a:srgbClr val="334155"/>
                </a:solidFill>
              </a:rPr>
              <a:t>passes between pages without a server</a:t>
            </a:r>
            <a:endParaRPr i="0" sz="1100" u="none" cap="none" strike="noStrike">
              <a:solidFill>
                <a:schemeClr val="dk1"/>
              </a:solidFill>
            </a:endParaRPr>
          </a:p>
        </p:txBody>
      </p:sp>
      <p:sp>
        <p:nvSpPr>
          <p:cNvPr id="290" name="Google Shape;290;p11"/>
          <p:cNvSpPr/>
          <p:nvPr/>
        </p:nvSpPr>
        <p:spPr>
          <a:xfrm>
            <a:off x="4846320" y="1170432"/>
            <a:ext cx="3931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04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1040"/>
                </a:solidFill>
              </a:rPr>
              <a:t>Accessibility</a:t>
            </a:r>
            <a:endParaRPr i="0" sz="1300" u="none" cap="none" strike="noStrike">
              <a:solidFill>
                <a:schemeClr val="dk1"/>
              </a:solidFill>
            </a:endParaRPr>
          </a:p>
        </p:txBody>
      </p:sp>
      <p:sp>
        <p:nvSpPr>
          <p:cNvPr id="291" name="Google Shape;291;p11"/>
          <p:cNvSpPr/>
          <p:nvPr/>
        </p:nvSpPr>
        <p:spPr>
          <a:xfrm>
            <a:off x="4846320" y="1463040"/>
            <a:ext cx="3931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50"/>
              <a:buFont typeface="Calibri"/>
              <a:buNone/>
            </a:pPr>
            <a:r>
              <a:rPr i="0" lang="en-US" sz="1150" u="none" cap="none" strike="noStrike">
                <a:solidFill>
                  <a:srgbClr val="64748B"/>
                </a:solidFill>
              </a:rPr>
              <a:t>A settings widget appears on every page with three options</a:t>
            </a:r>
            <a:r>
              <a:rPr lang="en-US" sz="1150">
                <a:solidFill>
                  <a:srgbClr val="64748B"/>
                </a:solidFill>
              </a:rPr>
              <a:t>, </a:t>
            </a:r>
            <a:r>
              <a:rPr i="0" lang="en-US" sz="1150" u="none" cap="none" strike="noStrike">
                <a:solidFill>
                  <a:srgbClr val="64748B"/>
                </a:solidFill>
              </a:rPr>
              <a:t>all saved to localStorage so they stick when you navigate.</a:t>
            </a:r>
            <a:endParaRPr i="0" sz="1150" u="none" cap="none" strike="noStrike">
              <a:solidFill>
                <a:schemeClr val="dk1"/>
              </a:solidFill>
            </a:endParaRPr>
          </a:p>
        </p:txBody>
      </p:sp>
      <p:sp>
        <p:nvSpPr>
          <p:cNvPr id="292" name="Google Shape;292;p11"/>
          <p:cNvSpPr/>
          <p:nvPr/>
        </p:nvSpPr>
        <p:spPr>
          <a:xfrm>
            <a:off x="4846320" y="1993392"/>
            <a:ext cx="3931920" cy="841248"/>
          </a:xfrm>
          <a:prstGeom prst="rect">
            <a:avLst/>
          </a:prstGeom>
          <a:solidFill>
            <a:srgbClr val="F8F5FF"/>
          </a:solidFill>
          <a:ln cap="flat" cmpd="sng" w="12700">
            <a:solidFill>
              <a:srgbClr val="E0D6F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1"/>
          <p:cNvSpPr/>
          <p:nvPr/>
        </p:nvSpPr>
        <p:spPr>
          <a:xfrm>
            <a:off x="4919472" y="2048256"/>
            <a:ext cx="457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i="0" lang="en-US" sz="2200" u="none" cap="none" strike="noStrike">
                <a:solidFill>
                  <a:srgbClr val="000000"/>
                </a:solidFill>
              </a:rPr>
              <a:t>🌙</a:t>
            </a:r>
            <a:endParaRPr i="0" sz="2200" u="none" cap="none" strike="noStrike">
              <a:solidFill>
                <a:schemeClr val="dk1"/>
              </a:solidFill>
            </a:endParaRPr>
          </a:p>
        </p:txBody>
      </p:sp>
      <p:sp>
        <p:nvSpPr>
          <p:cNvPr id="294" name="Google Shape;294;p11"/>
          <p:cNvSpPr/>
          <p:nvPr/>
        </p:nvSpPr>
        <p:spPr>
          <a:xfrm>
            <a:off x="5431536" y="2048256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04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1040"/>
                </a:solidFill>
              </a:rPr>
              <a:t>Dark Mode</a:t>
            </a:r>
            <a:endParaRPr i="0" sz="1300" u="none" cap="none" strike="noStrike">
              <a:solidFill>
                <a:schemeClr val="dk1"/>
              </a:solidFill>
            </a:endParaRPr>
          </a:p>
        </p:txBody>
      </p:sp>
      <p:sp>
        <p:nvSpPr>
          <p:cNvPr id="295" name="Google Shape;295;p11"/>
          <p:cNvSpPr/>
          <p:nvPr/>
        </p:nvSpPr>
        <p:spPr>
          <a:xfrm>
            <a:off x="5431536" y="2340864"/>
            <a:ext cx="32004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i="0" lang="en-US" sz="1100" u="none" cap="none" strike="noStrike">
                <a:solidFill>
                  <a:srgbClr val="64748B"/>
                </a:solidFill>
              </a:rPr>
              <a:t>data-theme="dark" swaps</a:t>
            </a:r>
            <a:endParaRPr i="0" sz="1100" u="none" cap="none" strike="noStrike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i="0" lang="en-US" sz="1100" u="none" cap="none" strike="noStrike">
                <a:solidFill>
                  <a:srgbClr val="64748B"/>
                </a:solidFill>
              </a:rPr>
              <a:t>the whole colour palette</a:t>
            </a:r>
            <a:endParaRPr i="0" sz="1100" u="none" cap="none" strike="noStrike">
              <a:solidFill>
                <a:schemeClr val="dk1"/>
              </a:solidFill>
            </a:endParaRPr>
          </a:p>
        </p:txBody>
      </p:sp>
      <p:sp>
        <p:nvSpPr>
          <p:cNvPr id="296" name="Google Shape;296;p11"/>
          <p:cNvSpPr/>
          <p:nvPr/>
        </p:nvSpPr>
        <p:spPr>
          <a:xfrm>
            <a:off x="4846320" y="2980944"/>
            <a:ext cx="3931920" cy="841248"/>
          </a:xfrm>
          <a:prstGeom prst="rect">
            <a:avLst/>
          </a:prstGeom>
          <a:solidFill>
            <a:srgbClr val="F0F9FF"/>
          </a:solidFill>
          <a:ln cap="flat" cmpd="sng" w="12700">
            <a:solidFill>
              <a:srgbClr val="E0D6F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11"/>
          <p:cNvSpPr/>
          <p:nvPr/>
        </p:nvSpPr>
        <p:spPr>
          <a:xfrm>
            <a:off x="4919472" y="3035808"/>
            <a:ext cx="457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🔤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1"/>
          <p:cNvSpPr/>
          <p:nvPr/>
        </p:nvSpPr>
        <p:spPr>
          <a:xfrm>
            <a:off x="5431536" y="3035808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04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1040"/>
                </a:solidFill>
              </a:rPr>
              <a:t>Text Scaling</a:t>
            </a:r>
            <a:endParaRPr i="0" sz="1300" u="none" cap="none" strike="noStrike">
              <a:solidFill>
                <a:schemeClr val="dk1"/>
              </a:solidFill>
            </a:endParaRPr>
          </a:p>
        </p:txBody>
      </p:sp>
      <p:sp>
        <p:nvSpPr>
          <p:cNvPr id="299" name="Google Shape;299;p11"/>
          <p:cNvSpPr/>
          <p:nvPr/>
        </p:nvSpPr>
        <p:spPr>
          <a:xfrm>
            <a:off x="5431536" y="3328416"/>
            <a:ext cx="32004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i="0" lang="en-US" sz="1100" u="none" cap="none" strike="noStrike">
                <a:solidFill>
                  <a:srgbClr val="64748B"/>
                </a:solidFill>
              </a:rPr>
              <a:t>A– and A+ resize everything</a:t>
            </a:r>
            <a:endParaRPr i="0" sz="1100" u="none" cap="none" strike="noStrike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i="0" lang="en-US" sz="1100" u="none" cap="none" strike="noStrike">
                <a:solidFill>
                  <a:srgbClr val="64748B"/>
                </a:solidFill>
              </a:rPr>
              <a:t>via a --font-scale CSS variable</a:t>
            </a:r>
            <a:endParaRPr i="0" sz="1100" u="none" cap="none" strike="noStrike">
              <a:solidFill>
                <a:schemeClr val="dk1"/>
              </a:solidFill>
            </a:endParaRPr>
          </a:p>
        </p:txBody>
      </p:sp>
      <p:sp>
        <p:nvSpPr>
          <p:cNvPr id="300" name="Google Shape;300;p11"/>
          <p:cNvSpPr/>
          <p:nvPr/>
        </p:nvSpPr>
        <p:spPr>
          <a:xfrm>
            <a:off x="4846320" y="3968496"/>
            <a:ext cx="3931920" cy="841248"/>
          </a:xfrm>
          <a:prstGeom prst="rect">
            <a:avLst/>
          </a:prstGeom>
          <a:solidFill>
            <a:srgbClr val="F8F5FF"/>
          </a:solidFill>
          <a:ln cap="flat" cmpd="sng" w="12700">
            <a:solidFill>
              <a:srgbClr val="E0D6F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11"/>
          <p:cNvSpPr/>
          <p:nvPr/>
        </p:nvSpPr>
        <p:spPr>
          <a:xfrm>
            <a:off x="4919472" y="4023360"/>
            <a:ext cx="457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⬛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1"/>
          <p:cNvSpPr/>
          <p:nvPr/>
        </p:nvSpPr>
        <p:spPr>
          <a:xfrm>
            <a:off x="5431536" y="402336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04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1040"/>
                </a:solidFill>
              </a:rPr>
              <a:t>High Contrast</a:t>
            </a:r>
            <a:endParaRPr i="0" sz="1300" u="none" cap="none" strike="noStrike">
              <a:solidFill>
                <a:schemeClr val="dk1"/>
              </a:solidFill>
            </a:endParaRPr>
          </a:p>
        </p:txBody>
      </p:sp>
      <p:sp>
        <p:nvSpPr>
          <p:cNvPr id="303" name="Google Shape;303;p11"/>
          <p:cNvSpPr/>
          <p:nvPr/>
        </p:nvSpPr>
        <p:spPr>
          <a:xfrm>
            <a:off x="5431536" y="4315968"/>
            <a:ext cx="32004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i="0" lang="en-US" sz="1100" u="none" cap="none" strike="noStrike">
                <a:solidFill>
                  <a:srgbClr val="64748B"/>
                </a:solidFill>
              </a:rPr>
              <a:t>Replaces translucent cards</a:t>
            </a:r>
            <a:endParaRPr i="0" sz="1100" u="none" cap="none" strike="noStrike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i="0" lang="en-US" sz="1100" u="none" cap="none" strike="noStrike">
                <a:solidFill>
                  <a:srgbClr val="64748B"/>
                </a:solidFill>
              </a:rPr>
              <a:t>with solid black and white</a:t>
            </a:r>
            <a:endParaRPr i="0" sz="1100" u="none" cap="none" strike="noStrike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12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6C2BD9"/>
          </a:solidFill>
          <a:ln cap="flat" cmpd="sng" w="12700">
            <a:solidFill>
              <a:srgbClr val="6C2B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12"/>
          <p:cNvSpPr/>
          <p:nvPr/>
        </p:nvSpPr>
        <p:spPr>
          <a:xfrm>
            <a:off x="0" y="4983480"/>
            <a:ext cx="9144000" cy="54864"/>
          </a:xfrm>
          <a:prstGeom prst="rect">
            <a:avLst/>
          </a:prstGeom>
          <a:solidFill>
            <a:srgbClr val="E8E0F8"/>
          </a:solidFill>
          <a:ln cap="flat" cmpd="sng" w="12700">
            <a:solidFill>
              <a:srgbClr val="E8E0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12"/>
          <p:cNvSpPr/>
          <p:nvPr/>
        </p:nvSpPr>
        <p:spPr>
          <a:xfrm>
            <a:off x="365760" y="4910328"/>
            <a:ext cx="84124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COMP2003 – Capture the Flag  |  Group 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2"/>
          <p:cNvSpPr/>
          <p:nvPr/>
        </p:nvSpPr>
        <p:spPr>
          <a:xfrm>
            <a:off x="365760" y="91440"/>
            <a:ext cx="84124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</a:rPr>
              <a:t>Role-Based Gameplay</a:t>
            </a:r>
            <a:r>
              <a:rPr b="1" lang="en-US" sz="2200">
                <a:solidFill>
                  <a:srgbClr val="FFFFFF"/>
                </a:solidFill>
              </a:rPr>
              <a:t>: </a:t>
            </a:r>
            <a:r>
              <a:rPr b="1" i="0" lang="en-US" sz="2200" u="none" cap="none" strike="noStrike">
                <a:solidFill>
                  <a:srgbClr val="FFFFFF"/>
                </a:solidFill>
              </a:rPr>
              <a:t>Four Roles, Four Abilities</a:t>
            </a:r>
            <a:endParaRPr i="0" sz="2200" u="none" cap="none" strike="noStrike">
              <a:solidFill>
                <a:schemeClr val="dk1"/>
              </a:solidFill>
            </a:endParaRPr>
          </a:p>
        </p:txBody>
      </p:sp>
      <p:sp>
        <p:nvSpPr>
          <p:cNvPr id="313" name="Google Shape;313;p12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i="1" lang="en-US" sz="1300" u="none" cap="none" strike="noStrike">
                <a:solidFill>
                  <a:srgbClr val="64748B"/>
                </a:solidFill>
              </a:rPr>
              <a:t>Roles aren't just labels. Each one changes something about how you play</a:t>
            </a:r>
            <a:r>
              <a:rPr i="1" lang="en-US" sz="1300">
                <a:solidFill>
                  <a:srgbClr val="64748B"/>
                </a:solidFill>
              </a:rPr>
              <a:t>, </a:t>
            </a:r>
            <a:r>
              <a:rPr i="1" lang="en-US" sz="1300" u="none" cap="none" strike="noStrike">
                <a:solidFill>
                  <a:srgbClr val="64748B"/>
                </a:solidFill>
              </a:rPr>
              <a:t>and teams with a mix of roles will perform differently.</a:t>
            </a:r>
            <a:endParaRPr i="0" sz="1300" u="none" cap="none" strike="noStrike">
              <a:solidFill>
                <a:schemeClr val="dk1"/>
              </a:solidFill>
            </a:endParaRPr>
          </a:p>
        </p:txBody>
      </p:sp>
      <p:sp>
        <p:nvSpPr>
          <p:cNvPr id="314" name="Google Shape;314;p12"/>
          <p:cNvSpPr/>
          <p:nvPr/>
        </p:nvSpPr>
        <p:spPr>
          <a:xfrm>
            <a:off x="365760" y="1261872"/>
            <a:ext cx="4114800" cy="1572768"/>
          </a:xfrm>
          <a:prstGeom prst="rect">
            <a:avLst/>
          </a:prstGeom>
          <a:solidFill>
            <a:srgbClr val="E8E0F8"/>
          </a:solidFill>
          <a:ln cap="flat" cmpd="sng" w="12700">
            <a:solidFill>
              <a:srgbClr val="E0D6F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12"/>
          <p:cNvSpPr/>
          <p:nvPr/>
        </p:nvSpPr>
        <p:spPr>
          <a:xfrm>
            <a:off x="438912" y="1353312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🕵️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2"/>
          <p:cNvSpPr/>
          <p:nvPr/>
        </p:nvSpPr>
        <p:spPr>
          <a:xfrm>
            <a:off x="1060704" y="1335024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040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E1040"/>
                </a:solidFill>
              </a:rPr>
              <a:t>Infiltrator</a:t>
            </a:r>
            <a:endParaRPr i="0" sz="1500" u="none" cap="none" strike="noStrike">
              <a:solidFill>
                <a:schemeClr val="dk1"/>
              </a:solidFill>
            </a:endParaRPr>
          </a:p>
        </p:txBody>
      </p:sp>
      <p:sp>
        <p:nvSpPr>
          <p:cNvPr id="317" name="Google Shape;317;p12"/>
          <p:cNvSpPr/>
          <p:nvPr/>
        </p:nvSpPr>
        <p:spPr>
          <a:xfrm>
            <a:off x="1060704" y="1627632"/>
            <a:ext cx="3291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21B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5B21B6"/>
                </a:solidFill>
              </a:rPr>
              <a:t>15 seconds per question</a:t>
            </a:r>
            <a:endParaRPr i="0" sz="1100" u="none" cap="none" strike="noStrike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21B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5B21B6"/>
                </a:solidFill>
              </a:rPr>
              <a:t>(everyone else gets 10)</a:t>
            </a:r>
            <a:endParaRPr i="0" sz="1100" u="none" cap="none" strike="noStrike">
              <a:solidFill>
                <a:schemeClr val="dk1"/>
              </a:solidFill>
            </a:endParaRPr>
          </a:p>
        </p:txBody>
      </p:sp>
      <p:sp>
        <p:nvSpPr>
          <p:cNvPr id="318" name="Google Shape;318;p12"/>
          <p:cNvSpPr/>
          <p:nvPr/>
        </p:nvSpPr>
        <p:spPr>
          <a:xfrm>
            <a:off x="530352" y="2066544"/>
            <a:ext cx="3785616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i="0" lang="en-US" sz="1050" u="none" cap="none" strike="noStrike">
                <a:solidFill>
                  <a:srgbClr val="64748B"/>
                </a:solidFill>
              </a:rPr>
              <a:t>Ghost mode. More time to think. Perfect if the topic is unfamiliar.</a:t>
            </a:r>
            <a:endParaRPr i="0" sz="1050" u="none" cap="none" strike="noStrike">
              <a:solidFill>
                <a:schemeClr val="dk1"/>
              </a:solidFill>
            </a:endParaRPr>
          </a:p>
        </p:txBody>
      </p:sp>
      <p:sp>
        <p:nvSpPr>
          <p:cNvPr id="319" name="Google Shape;319;p12"/>
          <p:cNvSpPr/>
          <p:nvPr/>
        </p:nvSpPr>
        <p:spPr>
          <a:xfrm>
            <a:off x="530352" y="2578608"/>
            <a:ext cx="3785616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950"/>
              <a:buFont typeface="Courier New"/>
              <a:buNone/>
            </a:pPr>
            <a:r>
              <a:rPr i="1" lang="en-US" sz="950" u="none" cap="none" strike="noStrike">
                <a:solidFill>
                  <a:srgbClr val="AAAAAA"/>
                </a:solidFill>
              </a:rPr>
              <a:t>quizTimeLimit = 15</a:t>
            </a:r>
            <a:endParaRPr i="0" sz="950" u="none" cap="none" strike="noStrike">
              <a:solidFill>
                <a:schemeClr val="dk1"/>
              </a:solidFill>
            </a:endParaRPr>
          </a:p>
        </p:txBody>
      </p:sp>
      <p:sp>
        <p:nvSpPr>
          <p:cNvPr id="320" name="Google Shape;320;p12"/>
          <p:cNvSpPr/>
          <p:nvPr/>
        </p:nvSpPr>
        <p:spPr>
          <a:xfrm>
            <a:off x="4709160" y="1261872"/>
            <a:ext cx="4114800" cy="1572768"/>
          </a:xfrm>
          <a:prstGeom prst="rect">
            <a:avLst/>
          </a:prstGeom>
          <a:solidFill>
            <a:srgbClr val="FCE7F3"/>
          </a:solidFill>
          <a:ln cap="flat" cmpd="sng" w="12700">
            <a:solidFill>
              <a:srgbClr val="E0D6F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12"/>
          <p:cNvSpPr/>
          <p:nvPr/>
        </p:nvSpPr>
        <p:spPr>
          <a:xfrm>
            <a:off x="4782312" y="1353312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⚔️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2"/>
          <p:cNvSpPr/>
          <p:nvPr/>
        </p:nvSpPr>
        <p:spPr>
          <a:xfrm>
            <a:off x="5404104" y="1335024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040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E1040"/>
                </a:solidFill>
              </a:rPr>
              <a:t>Exploit</a:t>
            </a:r>
            <a:endParaRPr i="0" sz="1500" u="none" cap="none" strike="noStrike">
              <a:solidFill>
                <a:schemeClr val="dk1"/>
              </a:solidFill>
            </a:endParaRPr>
          </a:p>
        </p:txBody>
      </p:sp>
      <p:sp>
        <p:nvSpPr>
          <p:cNvPr id="323" name="Google Shape;323;p12"/>
          <p:cNvSpPr/>
          <p:nvPr/>
        </p:nvSpPr>
        <p:spPr>
          <a:xfrm>
            <a:off x="5404104" y="1627632"/>
            <a:ext cx="3291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21B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5B21B6"/>
                </a:solidFill>
              </a:rPr>
              <a:t>+0.5x multiplier per correct</a:t>
            </a:r>
            <a:endParaRPr i="0" sz="1100" u="none" cap="none" strike="noStrike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21B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5B21B6"/>
                </a:solidFill>
              </a:rPr>
              <a:t>(standard is +0.25x)</a:t>
            </a:r>
            <a:endParaRPr i="0" sz="1100" u="none" cap="none" strike="noStrike">
              <a:solidFill>
                <a:schemeClr val="dk1"/>
              </a:solidFill>
            </a:endParaRPr>
          </a:p>
        </p:txBody>
      </p:sp>
      <p:sp>
        <p:nvSpPr>
          <p:cNvPr id="324" name="Google Shape;324;p12"/>
          <p:cNvSpPr/>
          <p:nvPr/>
        </p:nvSpPr>
        <p:spPr>
          <a:xfrm>
            <a:off x="4873752" y="2066544"/>
            <a:ext cx="3785616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i="0" lang="en-US" sz="1050" u="none" cap="none" strike="noStrike">
                <a:solidFill>
                  <a:srgbClr val="64748B"/>
                </a:solidFill>
              </a:rPr>
              <a:t>Double the multiplier gain. Answer everything right and you'll be at 3x after four questions.</a:t>
            </a:r>
            <a:endParaRPr i="0" sz="1050" u="none" cap="none" strike="noStrike">
              <a:solidFill>
                <a:schemeClr val="dk1"/>
              </a:solidFill>
            </a:endParaRPr>
          </a:p>
        </p:txBody>
      </p:sp>
      <p:sp>
        <p:nvSpPr>
          <p:cNvPr id="325" name="Google Shape;325;p12"/>
          <p:cNvSpPr/>
          <p:nvPr/>
        </p:nvSpPr>
        <p:spPr>
          <a:xfrm>
            <a:off x="4873752" y="2578608"/>
            <a:ext cx="3785616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950"/>
              <a:buFont typeface="Courier New"/>
              <a:buNone/>
            </a:pPr>
            <a:r>
              <a:rPr i="1" lang="en-US" sz="950" u="none" cap="none" strike="noStrike">
                <a:solidFill>
                  <a:srgbClr val="AAAAAA"/>
                </a:solidFill>
              </a:rPr>
              <a:t>multiplier += 0.5</a:t>
            </a:r>
            <a:endParaRPr i="0" sz="950" u="none" cap="none" strike="noStrike">
              <a:solidFill>
                <a:schemeClr val="dk1"/>
              </a:solidFill>
            </a:endParaRPr>
          </a:p>
        </p:txBody>
      </p:sp>
      <p:sp>
        <p:nvSpPr>
          <p:cNvPr id="326" name="Google Shape;326;p12"/>
          <p:cNvSpPr/>
          <p:nvPr/>
        </p:nvSpPr>
        <p:spPr>
          <a:xfrm>
            <a:off x="365760" y="2999232"/>
            <a:ext cx="4114800" cy="1572768"/>
          </a:xfrm>
          <a:prstGeom prst="rect">
            <a:avLst/>
          </a:prstGeom>
          <a:solidFill>
            <a:srgbClr val="E0F2FE"/>
          </a:solidFill>
          <a:ln cap="flat" cmpd="sng" w="12700">
            <a:solidFill>
              <a:srgbClr val="E0D6F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12"/>
          <p:cNvSpPr/>
          <p:nvPr/>
        </p:nvSpPr>
        <p:spPr>
          <a:xfrm>
            <a:off x="438912" y="3090672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🏃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2"/>
          <p:cNvSpPr/>
          <p:nvPr/>
        </p:nvSpPr>
        <p:spPr>
          <a:xfrm>
            <a:off x="1060704" y="3072384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040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E1040"/>
                </a:solidFill>
              </a:rPr>
              <a:t>Exfiltrator</a:t>
            </a:r>
            <a:endParaRPr i="0" sz="1500" u="none" cap="none" strike="noStrike">
              <a:solidFill>
                <a:schemeClr val="dk1"/>
              </a:solidFill>
            </a:endParaRPr>
          </a:p>
        </p:txBody>
      </p:sp>
      <p:sp>
        <p:nvSpPr>
          <p:cNvPr id="329" name="Google Shape;329;p12"/>
          <p:cNvSpPr/>
          <p:nvPr/>
        </p:nvSpPr>
        <p:spPr>
          <a:xfrm>
            <a:off x="1060704" y="3364992"/>
            <a:ext cx="3291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21B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5B21B6"/>
                </a:solidFill>
              </a:rPr>
              <a:t>+8s bonus game time per correct</a:t>
            </a:r>
            <a:endParaRPr i="0" sz="1100" u="none" cap="none" strike="noStrike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21B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5B21B6"/>
                </a:solidFill>
              </a:rPr>
              <a:t>(standard is +5s)</a:t>
            </a:r>
            <a:endParaRPr i="0" sz="1100" u="none" cap="none" strike="noStrike">
              <a:solidFill>
                <a:schemeClr val="dk1"/>
              </a:solidFill>
            </a:endParaRPr>
          </a:p>
        </p:txBody>
      </p:sp>
      <p:sp>
        <p:nvSpPr>
          <p:cNvPr id="330" name="Google Shape;330;p12"/>
          <p:cNvSpPr/>
          <p:nvPr/>
        </p:nvSpPr>
        <p:spPr>
          <a:xfrm>
            <a:off x="530352" y="3803904"/>
            <a:ext cx="3785616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i="0" lang="en-US" sz="1050" u="none" cap="none" strike="noStrike">
                <a:solidFill>
                  <a:srgbClr val="64748B"/>
                </a:solidFill>
              </a:rPr>
              <a:t>More correct answers means more time in the mini-game. Every second counts.</a:t>
            </a:r>
            <a:endParaRPr i="0" sz="1050" u="none" cap="none" strike="noStrike">
              <a:solidFill>
                <a:schemeClr val="dk1"/>
              </a:solidFill>
            </a:endParaRPr>
          </a:p>
        </p:txBody>
      </p:sp>
      <p:sp>
        <p:nvSpPr>
          <p:cNvPr id="331" name="Google Shape;331;p12"/>
          <p:cNvSpPr/>
          <p:nvPr/>
        </p:nvSpPr>
        <p:spPr>
          <a:xfrm>
            <a:off x="530352" y="4315968"/>
            <a:ext cx="3785616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950"/>
              <a:buFont typeface="Courier New"/>
              <a:buNone/>
            </a:pPr>
            <a:r>
              <a:rPr i="1" lang="en-US" sz="950" u="none" cap="none" strike="noStrike">
                <a:solidFill>
                  <a:srgbClr val="AAAAAA"/>
                </a:solidFill>
              </a:rPr>
              <a:t>quizBonusTime += 8</a:t>
            </a:r>
            <a:endParaRPr i="0" sz="950" u="none" cap="none" strike="noStrike">
              <a:solidFill>
                <a:schemeClr val="dk1"/>
              </a:solidFill>
            </a:endParaRPr>
          </a:p>
        </p:txBody>
      </p:sp>
      <p:sp>
        <p:nvSpPr>
          <p:cNvPr id="332" name="Google Shape;332;p12"/>
          <p:cNvSpPr/>
          <p:nvPr/>
        </p:nvSpPr>
        <p:spPr>
          <a:xfrm>
            <a:off x="4709160" y="2999232"/>
            <a:ext cx="4114800" cy="1572768"/>
          </a:xfrm>
          <a:prstGeom prst="rect">
            <a:avLst/>
          </a:prstGeom>
          <a:solidFill>
            <a:srgbClr val="F0FFF4"/>
          </a:solidFill>
          <a:ln cap="flat" cmpd="sng" w="12700">
            <a:solidFill>
              <a:srgbClr val="E0D6F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12"/>
          <p:cNvSpPr/>
          <p:nvPr/>
        </p:nvSpPr>
        <p:spPr>
          <a:xfrm>
            <a:off x="4782312" y="3090672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🛡️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2"/>
          <p:cNvSpPr/>
          <p:nvPr/>
        </p:nvSpPr>
        <p:spPr>
          <a:xfrm>
            <a:off x="5404104" y="3072384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040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E1040"/>
                </a:solidFill>
              </a:rPr>
              <a:t>Firewall</a:t>
            </a:r>
            <a:endParaRPr i="0" sz="1500" u="none" cap="none" strike="noStrike">
              <a:solidFill>
                <a:schemeClr val="dk1"/>
              </a:solidFill>
            </a:endParaRPr>
          </a:p>
        </p:txBody>
      </p:sp>
      <p:sp>
        <p:nvSpPr>
          <p:cNvPr id="335" name="Google Shape;335;p12"/>
          <p:cNvSpPr/>
          <p:nvPr/>
        </p:nvSpPr>
        <p:spPr>
          <a:xfrm>
            <a:off x="5404104" y="3364992"/>
            <a:ext cx="3291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21B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5B21B6"/>
                </a:solidFill>
              </a:rPr>
              <a:t>Wrong answers don't break</a:t>
            </a:r>
            <a:endParaRPr i="0" sz="1100" u="none" cap="none" strike="noStrike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21B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5B21B6"/>
                </a:solidFill>
              </a:rPr>
              <a:t>your multiplier streak</a:t>
            </a:r>
            <a:endParaRPr i="0" sz="1100" u="none" cap="none" strike="noStrike">
              <a:solidFill>
                <a:schemeClr val="dk1"/>
              </a:solidFill>
            </a:endParaRPr>
          </a:p>
        </p:txBody>
      </p:sp>
      <p:sp>
        <p:nvSpPr>
          <p:cNvPr id="336" name="Google Shape;336;p12"/>
          <p:cNvSpPr/>
          <p:nvPr/>
        </p:nvSpPr>
        <p:spPr>
          <a:xfrm>
            <a:off x="4873752" y="3803904"/>
            <a:ext cx="3785616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i="0" lang="en-US" sz="1050" u="none" cap="none" strike="noStrike">
                <a:solidFill>
                  <a:srgbClr val="64748B"/>
                </a:solidFill>
              </a:rPr>
              <a:t>Everyone else loses their streak on a wrong answer. Firewall keeps it going regardless.</a:t>
            </a:r>
            <a:endParaRPr i="0" sz="1050" u="none" cap="none" strike="noStrike">
              <a:solidFill>
                <a:schemeClr val="dk1"/>
              </a:solidFill>
            </a:endParaRPr>
          </a:p>
        </p:txBody>
      </p:sp>
      <p:sp>
        <p:nvSpPr>
          <p:cNvPr id="337" name="Google Shape;337;p12"/>
          <p:cNvSpPr/>
          <p:nvPr/>
        </p:nvSpPr>
        <p:spPr>
          <a:xfrm>
            <a:off x="4873752" y="4315968"/>
            <a:ext cx="3785616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950"/>
              <a:buFont typeface="Courier New"/>
              <a:buNone/>
            </a:pPr>
            <a:r>
              <a:rPr i="1" lang="en-US" sz="950" u="none" cap="none" strike="noStrike">
                <a:solidFill>
                  <a:srgbClr val="AAAAAA"/>
                </a:solidFill>
              </a:rPr>
              <a:t>if (firewall) multiplier += 0.25</a:t>
            </a:r>
            <a:endParaRPr i="0" sz="950" u="none" cap="none" strike="noStrike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13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6C2BD9"/>
          </a:solidFill>
          <a:ln cap="flat" cmpd="sng" w="12700">
            <a:solidFill>
              <a:srgbClr val="6C2B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13"/>
          <p:cNvSpPr/>
          <p:nvPr/>
        </p:nvSpPr>
        <p:spPr>
          <a:xfrm>
            <a:off x="0" y="4983480"/>
            <a:ext cx="9144000" cy="54864"/>
          </a:xfrm>
          <a:prstGeom prst="rect">
            <a:avLst/>
          </a:prstGeom>
          <a:solidFill>
            <a:srgbClr val="E8E0F8"/>
          </a:solidFill>
          <a:ln cap="flat" cmpd="sng" w="12700">
            <a:solidFill>
              <a:srgbClr val="E8E0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13"/>
          <p:cNvSpPr/>
          <p:nvPr/>
        </p:nvSpPr>
        <p:spPr>
          <a:xfrm>
            <a:off x="365760" y="4910328"/>
            <a:ext cx="84124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COMP2003 – Capture the Flag  |  Group 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3"/>
          <p:cNvSpPr/>
          <p:nvPr/>
        </p:nvSpPr>
        <p:spPr>
          <a:xfrm>
            <a:off x="365760" y="91440"/>
            <a:ext cx="84124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</a:rPr>
              <a:t>Quality Assurance</a:t>
            </a:r>
            <a:endParaRPr i="0" sz="2200" u="none" cap="none" strike="noStrike">
              <a:solidFill>
                <a:schemeClr val="dk1"/>
              </a:solidFill>
            </a:endParaRPr>
          </a:p>
        </p:txBody>
      </p:sp>
      <p:sp>
        <p:nvSpPr>
          <p:cNvPr id="347" name="Google Shape;347;p13"/>
          <p:cNvSpPr/>
          <p:nvPr/>
        </p:nvSpPr>
        <p:spPr>
          <a:xfrm>
            <a:off x="365760" y="749808"/>
            <a:ext cx="8412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i="1" lang="en-US" sz="1300" u="none" cap="none" strike="noStrike">
                <a:solidFill>
                  <a:srgbClr val="64748B"/>
                </a:solidFill>
              </a:rPr>
              <a:t>We treated testing as a continuous thing</a:t>
            </a:r>
            <a:r>
              <a:rPr i="1" lang="en-US" sz="1300">
                <a:solidFill>
                  <a:srgbClr val="64748B"/>
                </a:solidFill>
              </a:rPr>
              <a:t>, </a:t>
            </a:r>
            <a:r>
              <a:rPr i="1" lang="en-US" sz="1300" u="none" cap="none" strike="noStrike">
                <a:solidFill>
                  <a:srgbClr val="64748B"/>
                </a:solidFill>
              </a:rPr>
              <a:t>not a box to tick at the end.</a:t>
            </a:r>
            <a:endParaRPr i="0" sz="1300" u="none" cap="none" strike="noStrike">
              <a:solidFill>
                <a:schemeClr val="dk1"/>
              </a:solidFill>
            </a:endParaRPr>
          </a:p>
        </p:txBody>
      </p:sp>
      <p:sp>
        <p:nvSpPr>
          <p:cNvPr id="348" name="Google Shape;348;p13"/>
          <p:cNvSpPr/>
          <p:nvPr/>
        </p:nvSpPr>
        <p:spPr>
          <a:xfrm>
            <a:off x="365760" y="1170432"/>
            <a:ext cx="1920240" cy="1170432"/>
          </a:xfrm>
          <a:prstGeom prst="rect">
            <a:avLst/>
          </a:prstGeom>
          <a:solidFill>
            <a:srgbClr val="F8F5FF"/>
          </a:solidFill>
          <a:ln cap="flat" cmpd="sng" w="12700">
            <a:solidFill>
              <a:srgbClr val="E0D6F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13"/>
          <p:cNvSpPr/>
          <p:nvPr/>
        </p:nvSpPr>
        <p:spPr>
          <a:xfrm>
            <a:off x="365760" y="1243584"/>
            <a:ext cx="192024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C2BD9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6C2BD9"/>
                </a:solidFill>
              </a:rPr>
              <a:t>19</a:t>
            </a:r>
            <a:endParaRPr i="0" sz="3400" u="none" cap="none" strike="noStrike">
              <a:solidFill>
                <a:schemeClr val="dk1"/>
              </a:solidFill>
            </a:endParaRPr>
          </a:p>
        </p:txBody>
      </p:sp>
      <p:sp>
        <p:nvSpPr>
          <p:cNvPr id="350" name="Google Shape;350;p13"/>
          <p:cNvSpPr/>
          <p:nvPr/>
        </p:nvSpPr>
        <p:spPr>
          <a:xfrm>
            <a:off x="365760" y="1792224"/>
            <a:ext cx="19202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i="0" lang="en-US" sz="1100" u="none" cap="none" strike="noStrike">
                <a:solidFill>
                  <a:srgbClr val="64748B"/>
                </a:solidFill>
              </a:rPr>
              <a:t>Test cases run</a:t>
            </a:r>
            <a:endParaRPr i="0" sz="1100" u="none" cap="none" strike="noStrike">
              <a:solidFill>
                <a:schemeClr val="dk1"/>
              </a:solidFill>
            </a:endParaRPr>
          </a:p>
        </p:txBody>
      </p:sp>
      <p:sp>
        <p:nvSpPr>
          <p:cNvPr id="351" name="Google Shape;351;p13"/>
          <p:cNvSpPr/>
          <p:nvPr/>
        </p:nvSpPr>
        <p:spPr>
          <a:xfrm>
            <a:off x="2514600" y="1170432"/>
            <a:ext cx="1920240" cy="1170432"/>
          </a:xfrm>
          <a:prstGeom prst="rect">
            <a:avLst/>
          </a:prstGeom>
          <a:solidFill>
            <a:srgbClr val="F8F5FF"/>
          </a:solidFill>
          <a:ln cap="flat" cmpd="sng" w="12700">
            <a:solidFill>
              <a:srgbClr val="E0D6F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13"/>
          <p:cNvSpPr/>
          <p:nvPr/>
        </p:nvSpPr>
        <p:spPr>
          <a:xfrm>
            <a:off x="2514600" y="1243584"/>
            <a:ext cx="192024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21B6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5B21B6"/>
                </a:solidFill>
              </a:rPr>
              <a:t>4</a:t>
            </a:r>
            <a:endParaRPr i="0" sz="3400" u="none" cap="none" strike="noStrike">
              <a:solidFill>
                <a:schemeClr val="dk1"/>
              </a:solidFill>
            </a:endParaRPr>
          </a:p>
        </p:txBody>
      </p:sp>
      <p:sp>
        <p:nvSpPr>
          <p:cNvPr id="353" name="Google Shape;353;p13"/>
          <p:cNvSpPr/>
          <p:nvPr/>
        </p:nvSpPr>
        <p:spPr>
          <a:xfrm>
            <a:off x="2514600" y="1792224"/>
            <a:ext cx="19202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i="0" lang="en-US" sz="1100" u="none" cap="none" strike="noStrike">
                <a:solidFill>
                  <a:srgbClr val="64748B"/>
                </a:solidFill>
              </a:rPr>
              <a:t>Bugs caught</a:t>
            </a:r>
            <a:endParaRPr i="0" sz="1100" u="none" cap="none" strike="noStrike">
              <a:solidFill>
                <a:schemeClr val="dk1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i="0" lang="en-US" sz="1100" u="none" cap="none" strike="noStrike">
                <a:solidFill>
                  <a:srgbClr val="64748B"/>
                </a:solidFill>
              </a:rPr>
              <a:t>&amp; fixed</a:t>
            </a:r>
            <a:endParaRPr i="0" sz="1100" u="none" cap="none" strike="noStrike">
              <a:solidFill>
                <a:schemeClr val="dk1"/>
              </a:solidFill>
            </a:endParaRPr>
          </a:p>
        </p:txBody>
      </p:sp>
      <p:sp>
        <p:nvSpPr>
          <p:cNvPr id="354" name="Google Shape;354;p13"/>
          <p:cNvSpPr/>
          <p:nvPr/>
        </p:nvSpPr>
        <p:spPr>
          <a:xfrm>
            <a:off x="4663440" y="1170432"/>
            <a:ext cx="1920240" cy="1170432"/>
          </a:xfrm>
          <a:prstGeom prst="rect">
            <a:avLst/>
          </a:prstGeom>
          <a:solidFill>
            <a:srgbClr val="F8F5FF"/>
          </a:solidFill>
          <a:ln cap="flat" cmpd="sng" w="12700">
            <a:solidFill>
              <a:srgbClr val="E0D6F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13"/>
          <p:cNvSpPr/>
          <p:nvPr/>
        </p:nvSpPr>
        <p:spPr>
          <a:xfrm>
            <a:off x="4663440" y="1243584"/>
            <a:ext cx="192024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0891B2"/>
                </a:solidFill>
              </a:rPr>
              <a:t>15/15</a:t>
            </a:r>
            <a:endParaRPr i="0" sz="3400" u="none" cap="none" strike="noStrike">
              <a:solidFill>
                <a:schemeClr val="dk1"/>
              </a:solidFill>
            </a:endParaRPr>
          </a:p>
        </p:txBody>
      </p:sp>
      <p:sp>
        <p:nvSpPr>
          <p:cNvPr id="356" name="Google Shape;356;p13"/>
          <p:cNvSpPr/>
          <p:nvPr/>
        </p:nvSpPr>
        <p:spPr>
          <a:xfrm>
            <a:off x="4663440" y="1792224"/>
            <a:ext cx="19202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i="0" lang="en-US" sz="1100" u="none" cap="none" strike="noStrike">
                <a:solidFill>
                  <a:srgbClr val="64748B"/>
                </a:solidFill>
              </a:rPr>
              <a:t>AI JSON</a:t>
            </a:r>
            <a:endParaRPr i="0" sz="1100" u="none" cap="none" strike="noStrike">
              <a:solidFill>
                <a:schemeClr val="dk1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i="0" lang="en-US" sz="1100" u="none" cap="none" strike="noStrike">
                <a:solidFill>
                  <a:srgbClr val="64748B"/>
                </a:solidFill>
              </a:rPr>
              <a:t>outputs valid</a:t>
            </a:r>
            <a:endParaRPr i="0" sz="1100" u="none" cap="none" strike="noStrike">
              <a:solidFill>
                <a:schemeClr val="dk1"/>
              </a:solidFill>
            </a:endParaRPr>
          </a:p>
        </p:txBody>
      </p:sp>
      <p:sp>
        <p:nvSpPr>
          <p:cNvPr id="357" name="Google Shape;357;p13"/>
          <p:cNvSpPr/>
          <p:nvPr/>
        </p:nvSpPr>
        <p:spPr>
          <a:xfrm>
            <a:off x="6812280" y="1170432"/>
            <a:ext cx="1920240" cy="1170432"/>
          </a:xfrm>
          <a:prstGeom prst="rect">
            <a:avLst/>
          </a:prstGeom>
          <a:solidFill>
            <a:srgbClr val="F8F5FF"/>
          </a:solidFill>
          <a:ln cap="flat" cmpd="sng" w="12700">
            <a:solidFill>
              <a:srgbClr val="E0D6F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13"/>
          <p:cNvSpPr/>
          <p:nvPr/>
        </p:nvSpPr>
        <p:spPr>
          <a:xfrm>
            <a:off x="6812280" y="1243584"/>
            <a:ext cx="192024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059669"/>
                </a:solidFill>
              </a:rPr>
              <a:t>3</a:t>
            </a:r>
            <a:endParaRPr i="0" sz="3400" u="none" cap="none" strike="noStrike">
              <a:solidFill>
                <a:schemeClr val="dk1"/>
              </a:solidFill>
            </a:endParaRPr>
          </a:p>
        </p:txBody>
      </p:sp>
      <p:sp>
        <p:nvSpPr>
          <p:cNvPr id="359" name="Google Shape;359;p13"/>
          <p:cNvSpPr/>
          <p:nvPr/>
        </p:nvSpPr>
        <p:spPr>
          <a:xfrm>
            <a:off x="6812280" y="1792224"/>
            <a:ext cx="19202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i="0" lang="en-US" sz="1100" u="none" cap="none" strike="noStrike">
                <a:solidFill>
                  <a:srgbClr val="64748B"/>
                </a:solidFill>
              </a:rPr>
              <a:t>Browsers</a:t>
            </a:r>
            <a:endParaRPr i="0" sz="1100" u="none" cap="none" strike="noStrike">
              <a:solidFill>
                <a:schemeClr val="dk1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i="0" lang="en-US" sz="1100" u="none" cap="none" strike="noStrike">
                <a:solidFill>
                  <a:srgbClr val="64748B"/>
                </a:solidFill>
              </a:rPr>
              <a:t>checked</a:t>
            </a:r>
            <a:endParaRPr i="0" sz="1100" u="none" cap="none" strike="noStrike">
              <a:solidFill>
                <a:schemeClr val="dk1"/>
              </a:solidFill>
            </a:endParaRPr>
          </a:p>
        </p:txBody>
      </p:sp>
      <p:sp>
        <p:nvSpPr>
          <p:cNvPr id="360" name="Google Shape;360;p13"/>
          <p:cNvSpPr/>
          <p:nvPr/>
        </p:nvSpPr>
        <p:spPr>
          <a:xfrm>
            <a:off x="365760" y="2487168"/>
            <a:ext cx="4114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04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1040"/>
                </a:solidFill>
              </a:rPr>
              <a:t>Bugs we found and fixed</a:t>
            </a:r>
            <a:endParaRPr i="0" sz="1300" u="none" cap="none" strike="noStrike">
              <a:solidFill>
                <a:schemeClr val="dk1"/>
              </a:solidFill>
            </a:endParaRPr>
          </a:p>
        </p:txBody>
      </p:sp>
      <p:sp>
        <p:nvSpPr>
          <p:cNvPr id="361" name="Google Shape;361;p13"/>
          <p:cNvSpPr/>
          <p:nvPr/>
        </p:nvSpPr>
        <p:spPr>
          <a:xfrm>
            <a:off x="365760" y="2798064"/>
            <a:ext cx="4114800" cy="420624"/>
          </a:xfrm>
          <a:prstGeom prst="rect">
            <a:avLst/>
          </a:prstGeom>
          <a:solidFill>
            <a:srgbClr val="FFF8F8"/>
          </a:solidFill>
          <a:ln cap="flat" cmpd="sng" w="12700">
            <a:solidFill>
              <a:srgbClr val="E0D6F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13"/>
          <p:cNvSpPr/>
          <p:nvPr/>
        </p:nvSpPr>
        <p:spPr>
          <a:xfrm>
            <a:off x="365760" y="2798064"/>
            <a:ext cx="54864" cy="420624"/>
          </a:xfrm>
          <a:prstGeom prst="rect">
            <a:avLst/>
          </a:prstGeom>
          <a:solidFill>
            <a:srgbClr val="F87171"/>
          </a:solidFill>
          <a:ln cap="flat" cmpd="sng" w="12700">
            <a:solidFill>
              <a:srgbClr val="F871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13"/>
          <p:cNvSpPr/>
          <p:nvPr/>
        </p:nvSpPr>
        <p:spPr>
          <a:xfrm>
            <a:off x="548640" y="2834640"/>
            <a:ext cx="3749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Calibri"/>
              <a:buNone/>
            </a:pPr>
            <a:r>
              <a:rPr i="0" lang="en-US" sz="1050" u="none" cap="none" strike="noStrike">
                <a:solidFill>
                  <a:srgbClr val="334155"/>
                </a:solidFill>
              </a:rPr>
              <a:t>🔴→🟢  Whitespace in correctAns from AI was silently failing answer checks</a:t>
            </a:r>
            <a:r>
              <a:rPr lang="en-US" sz="1050">
                <a:solidFill>
                  <a:srgbClr val="334155"/>
                </a:solidFill>
              </a:rPr>
              <a:t>, </a:t>
            </a:r>
            <a:r>
              <a:rPr i="0" lang="en-US" sz="1050" u="none" cap="none" strike="noStrike">
                <a:solidFill>
                  <a:srgbClr val="334155"/>
                </a:solidFill>
              </a:rPr>
              <a:t>fixed with .trim()</a:t>
            </a:r>
            <a:endParaRPr i="0" sz="1050" u="none" cap="none" strike="noStrike">
              <a:solidFill>
                <a:schemeClr val="dk1"/>
              </a:solidFill>
            </a:endParaRPr>
          </a:p>
        </p:txBody>
      </p:sp>
      <p:sp>
        <p:nvSpPr>
          <p:cNvPr id="364" name="Google Shape;364;p13"/>
          <p:cNvSpPr/>
          <p:nvPr/>
        </p:nvSpPr>
        <p:spPr>
          <a:xfrm>
            <a:off x="365760" y="3273552"/>
            <a:ext cx="4114800" cy="42062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D6F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13"/>
          <p:cNvSpPr/>
          <p:nvPr/>
        </p:nvSpPr>
        <p:spPr>
          <a:xfrm>
            <a:off x="365760" y="3273552"/>
            <a:ext cx="54864" cy="420624"/>
          </a:xfrm>
          <a:prstGeom prst="rect">
            <a:avLst/>
          </a:prstGeom>
          <a:solidFill>
            <a:srgbClr val="F87171"/>
          </a:solidFill>
          <a:ln cap="flat" cmpd="sng" w="12700">
            <a:solidFill>
              <a:srgbClr val="F871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13"/>
          <p:cNvSpPr/>
          <p:nvPr/>
        </p:nvSpPr>
        <p:spPr>
          <a:xfrm>
            <a:off x="548640" y="3310128"/>
            <a:ext cx="3749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Calibri"/>
              <a:buNone/>
            </a:pPr>
            <a:r>
              <a:rPr i="0" lang="en-US" sz="1050" u="none" cap="none" strike="noStrike">
                <a:solidFill>
                  <a:srgbClr val="334155"/>
                </a:solidFill>
              </a:rPr>
              <a:t>🔴→🟢  Firestore WebSocket blocked on localhost</a:t>
            </a:r>
            <a:r>
              <a:rPr lang="en-US" sz="1050">
                <a:solidFill>
                  <a:srgbClr val="334155"/>
                </a:solidFill>
              </a:rPr>
              <a:t>, </a:t>
            </a:r>
            <a:r>
              <a:rPr i="0" lang="en-US" sz="1050" u="none" cap="none" strike="noStrike">
                <a:solidFill>
                  <a:srgbClr val="334155"/>
                </a:solidFill>
              </a:rPr>
              <a:t>switched to HTTP long polling</a:t>
            </a:r>
            <a:endParaRPr i="0" sz="1050" u="none" cap="none" strike="noStrike">
              <a:solidFill>
                <a:schemeClr val="dk1"/>
              </a:solidFill>
            </a:endParaRPr>
          </a:p>
        </p:txBody>
      </p:sp>
      <p:sp>
        <p:nvSpPr>
          <p:cNvPr id="367" name="Google Shape;367;p13"/>
          <p:cNvSpPr/>
          <p:nvPr/>
        </p:nvSpPr>
        <p:spPr>
          <a:xfrm>
            <a:off x="365760" y="3749040"/>
            <a:ext cx="4114800" cy="420624"/>
          </a:xfrm>
          <a:prstGeom prst="rect">
            <a:avLst/>
          </a:prstGeom>
          <a:solidFill>
            <a:srgbClr val="FFF8F8"/>
          </a:solidFill>
          <a:ln cap="flat" cmpd="sng" w="12700">
            <a:solidFill>
              <a:srgbClr val="E0D6F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13"/>
          <p:cNvSpPr/>
          <p:nvPr/>
        </p:nvSpPr>
        <p:spPr>
          <a:xfrm>
            <a:off x="365760" y="3749040"/>
            <a:ext cx="54864" cy="420624"/>
          </a:xfrm>
          <a:prstGeom prst="rect">
            <a:avLst/>
          </a:prstGeom>
          <a:solidFill>
            <a:srgbClr val="F87171"/>
          </a:solidFill>
          <a:ln cap="flat" cmpd="sng" w="12700">
            <a:solidFill>
              <a:srgbClr val="F871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13"/>
          <p:cNvSpPr/>
          <p:nvPr/>
        </p:nvSpPr>
        <p:spPr>
          <a:xfrm>
            <a:off x="548640" y="3785616"/>
            <a:ext cx="3749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Calibri"/>
              <a:buNone/>
            </a:pPr>
            <a:r>
              <a:rPr i="0" lang="en-US" sz="1050" u="none" cap="none" strike="noStrike">
                <a:solidFill>
                  <a:srgbClr val="334155"/>
                </a:solidFill>
              </a:rPr>
              <a:t>🔴→🟢  Timer bar animating on reset</a:t>
            </a:r>
            <a:r>
              <a:rPr lang="en-US" sz="1050">
                <a:solidFill>
                  <a:srgbClr val="334155"/>
                </a:solidFill>
              </a:rPr>
              <a:t>, </a:t>
            </a:r>
            <a:r>
              <a:rPr i="0" lang="en-US" sz="1050" u="none" cap="none" strike="noStrike">
                <a:solidFill>
                  <a:srgbClr val="334155"/>
                </a:solidFill>
              </a:rPr>
              <a:t>fixed with forced reflow using offsetWidth</a:t>
            </a:r>
            <a:endParaRPr i="0" sz="1050" u="none" cap="none" strike="noStrike">
              <a:solidFill>
                <a:schemeClr val="dk1"/>
              </a:solidFill>
            </a:endParaRPr>
          </a:p>
        </p:txBody>
      </p:sp>
      <p:sp>
        <p:nvSpPr>
          <p:cNvPr id="370" name="Google Shape;370;p13"/>
          <p:cNvSpPr/>
          <p:nvPr/>
        </p:nvSpPr>
        <p:spPr>
          <a:xfrm>
            <a:off x="365760" y="4224528"/>
            <a:ext cx="4114800" cy="42062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D6F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13"/>
          <p:cNvSpPr/>
          <p:nvPr/>
        </p:nvSpPr>
        <p:spPr>
          <a:xfrm>
            <a:off x="365760" y="4224528"/>
            <a:ext cx="54864" cy="420624"/>
          </a:xfrm>
          <a:prstGeom prst="rect">
            <a:avLst/>
          </a:prstGeom>
          <a:solidFill>
            <a:srgbClr val="F87171"/>
          </a:solidFill>
          <a:ln cap="flat" cmpd="sng" w="12700">
            <a:solidFill>
              <a:srgbClr val="F871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13"/>
          <p:cNvSpPr/>
          <p:nvPr/>
        </p:nvSpPr>
        <p:spPr>
          <a:xfrm>
            <a:off x="548640" y="4261104"/>
            <a:ext cx="3749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Calibri"/>
              <a:buNone/>
            </a:pPr>
            <a:r>
              <a:rPr i="0" lang="en-US" sz="1050" u="none" cap="none" strike="noStrike">
                <a:solidFill>
                  <a:srgbClr val="334155"/>
                </a:solidFill>
              </a:rPr>
              <a:t>🔴→🟢  Misplaced import in teacher.html was crashing the entire module script</a:t>
            </a:r>
            <a:endParaRPr i="0" sz="1050" u="none" cap="none" strike="noStrike">
              <a:solidFill>
                <a:schemeClr val="dk1"/>
              </a:solidFill>
            </a:endParaRPr>
          </a:p>
        </p:txBody>
      </p:sp>
      <p:sp>
        <p:nvSpPr>
          <p:cNvPr id="373" name="Google Shape;373;p13"/>
          <p:cNvSpPr/>
          <p:nvPr/>
        </p:nvSpPr>
        <p:spPr>
          <a:xfrm>
            <a:off x="4754880" y="2487168"/>
            <a:ext cx="4023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04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1040"/>
                </a:solidFill>
              </a:rPr>
              <a:t>What real users told us</a:t>
            </a:r>
            <a:endParaRPr i="0" sz="1300" u="none" cap="none" strike="noStrike">
              <a:solidFill>
                <a:schemeClr val="dk1"/>
              </a:solidFill>
            </a:endParaRPr>
          </a:p>
        </p:txBody>
      </p:sp>
      <p:sp>
        <p:nvSpPr>
          <p:cNvPr id="374" name="Google Shape;374;p13"/>
          <p:cNvSpPr/>
          <p:nvPr/>
        </p:nvSpPr>
        <p:spPr>
          <a:xfrm>
            <a:off x="4754880" y="2779776"/>
            <a:ext cx="40233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i="1" lang="en-US" sz="1100" u="none" cap="none" strike="noStrike">
                <a:solidFill>
                  <a:srgbClr val="64748B"/>
                </a:solidFill>
              </a:rPr>
              <a:t>Dr Hopcraft reviewed the system three times during development. Students tested the join flow without any guidance from us.</a:t>
            </a:r>
            <a:endParaRPr i="0" sz="1100" u="none" cap="none" strike="noStrike">
              <a:solidFill>
                <a:schemeClr val="dk1"/>
              </a:solidFill>
            </a:endParaRPr>
          </a:p>
        </p:txBody>
      </p:sp>
      <p:sp>
        <p:nvSpPr>
          <p:cNvPr id="375" name="Google Shape;375;p13"/>
          <p:cNvSpPr/>
          <p:nvPr/>
        </p:nvSpPr>
        <p:spPr>
          <a:xfrm>
            <a:off x="4754880" y="3255264"/>
            <a:ext cx="4023360" cy="347472"/>
          </a:xfrm>
          <a:prstGeom prst="rect">
            <a:avLst/>
          </a:prstGeom>
          <a:solidFill>
            <a:srgbClr val="F8F5FF"/>
          </a:solidFill>
          <a:ln cap="flat" cmpd="sng" w="12700">
            <a:solidFill>
              <a:srgbClr val="E0D6F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13"/>
          <p:cNvSpPr/>
          <p:nvPr/>
        </p:nvSpPr>
        <p:spPr>
          <a:xfrm>
            <a:off x="4901184" y="3291840"/>
            <a:ext cx="373075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Calibri"/>
              <a:buNone/>
            </a:pPr>
            <a:r>
              <a:rPr i="0" lang="en-US" sz="1000" u="none" cap="none" strike="noStrike">
                <a:solidFill>
                  <a:srgbClr val="334155"/>
                </a:solidFill>
              </a:rPr>
              <a:t>✅  'Session PIN' label confused people → reworded to 'Enter the PIN your teacher gave you'</a:t>
            </a:r>
            <a:endParaRPr i="0" sz="1000" u="none" cap="none" strike="noStrike">
              <a:solidFill>
                <a:schemeClr val="dk1"/>
              </a:solidFill>
            </a:endParaRPr>
          </a:p>
        </p:txBody>
      </p:sp>
      <p:sp>
        <p:nvSpPr>
          <p:cNvPr id="377" name="Google Shape;377;p13"/>
          <p:cNvSpPr/>
          <p:nvPr/>
        </p:nvSpPr>
        <p:spPr>
          <a:xfrm>
            <a:off x="4754880" y="3675888"/>
            <a:ext cx="4023360" cy="34747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D6F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13"/>
          <p:cNvSpPr/>
          <p:nvPr/>
        </p:nvSpPr>
        <p:spPr>
          <a:xfrm>
            <a:off x="4901184" y="3712464"/>
            <a:ext cx="373075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Calibri"/>
              <a:buNone/>
            </a:pPr>
            <a:r>
              <a:rPr i="0" lang="en-US" sz="1000" u="none" cap="none" strike="noStrike">
                <a:solidFill>
                  <a:srgbClr val="334155"/>
                </a:solidFill>
              </a:rPr>
              <a:t>✅  Students forgot their team while waiting → added team display to waiting page</a:t>
            </a:r>
            <a:endParaRPr i="0" sz="1000" u="none" cap="none" strike="noStrike">
              <a:solidFill>
                <a:schemeClr val="dk1"/>
              </a:solidFill>
            </a:endParaRPr>
          </a:p>
        </p:txBody>
      </p:sp>
      <p:sp>
        <p:nvSpPr>
          <p:cNvPr id="379" name="Google Shape;379;p13"/>
          <p:cNvSpPr/>
          <p:nvPr/>
        </p:nvSpPr>
        <p:spPr>
          <a:xfrm>
            <a:off x="4754880" y="4096512"/>
            <a:ext cx="4023360" cy="347472"/>
          </a:xfrm>
          <a:prstGeom prst="rect">
            <a:avLst/>
          </a:prstGeom>
          <a:solidFill>
            <a:srgbClr val="F8F5FF"/>
          </a:solidFill>
          <a:ln cap="flat" cmpd="sng" w="12700">
            <a:solidFill>
              <a:srgbClr val="E0D6F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13"/>
          <p:cNvSpPr/>
          <p:nvPr/>
        </p:nvSpPr>
        <p:spPr>
          <a:xfrm>
            <a:off x="4901184" y="4133088"/>
            <a:ext cx="373075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Calibri"/>
              <a:buNone/>
            </a:pPr>
            <a:r>
              <a:rPr i="0" lang="en-US" sz="1000" u="none" cap="none" strike="noStrike">
                <a:solidFill>
                  <a:srgbClr val="334155"/>
                </a:solidFill>
              </a:rPr>
              <a:t>✅  AI setup was bundled with game setup → separated into its own tool</a:t>
            </a:r>
            <a:endParaRPr i="0" sz="1000" u="none" cap="none" strike="noStrike">
              <a:solidFill>
                <a:schemeClr val="dk1"/>
              </a:solidFill>
            </a:endParaRPr>
          </a:p>
        </p:txBody>
      </p:sp>
      <p:sp>
        <p:nvSpPr>
          <p:cNvPr id="381" name="Google Shape;381;p13"/>
          <p:cNvSpPr/>
          <p:nvPr/>
        </p:nvSpPr>
        <p:spPr>
          <a:xfrm>
            <a:off x="4754880" y="4517136"/>
            <a:ext cx="4023360" cy="34747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D6F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13"/>
          <p:cNvSpPr/>
          <p:nvPr/>
        </p:nvSpPr>
        <p:spPr>
          <a:xfrm>
            <a:off x="4901184" y="4553712"/>
            <a:ext cx="373075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Calibri"/>
              <a:buNone/>
            </a:pPr>
            <a:r>
              <a:rPr i="0" lang="en-US" sz="1000" u="none" cap="none" strike="noStrike">
                <a:solidFill>
                  <a:srgbClr val="334155"/>
                </a:solidFill>
              </a:rPr>
              <a:t>✅  PIN on game page was mistaken for a score → relabelled 'Room PIN'</a:t>
            </a:r>
            <a:endParaRPr i="0" sz="1000" u="none" cap="none" strike="noStrike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14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6C2BD9"/>
          </a:solidFill>
          <a:ln cap="flat" cmpd="sng" w="12700">
            <a:solidFill>
              <a:srgbClr val="6C2B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14"/>
          <p:cNvSpPr/>
          <p:nvPr/>
        </p:nvSpPr>
        <p:spPr>
          <a:xfrm>
            <a:off x="0" y="4983480"/>
            <a:ext cx="9144000" cy="54864"/>
          </a:xfrm>
          <a:prstGeom prst="rect">
            <a:avLst/>
          </a:prstGeom>
          <a:solidFill>
            <a:srgbClr val="E8E0F8"/>
          </a:solidFill>
          <a:ln cap="flat" cmpd="sng" w="12700">
            <a:solidFill>
              <a:srgbClr val="E8E0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14"/>
          <p:cNvSpPr/>
          <p:nvPr/>
        </p:nvSpPr>
        <p:spPr>
          <a:xfrm>
            <a:off x="365760" y="4910328"/>
            <a:ext cx="84124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COMP2003 – Capture the Flag  |  Group 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4"/>
          <p:cNvSpPr/>
          <p:nvPr/>
        </p:nvSpPr>
        <p:spPr>
          <a:xfrm>
            <a:off x="365760" y="91440"/>
            <a:ext cx="84124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</a:rPr>
              <a:t>Limitations &amp; What's Next</a:t>
            </a:r>
            <a:endParaRPr i="0" sz="2200" u="none" cap="none" strike="noStrike">
              <a:solidFill>
                <a:schemeClr val="dk1"/>
              </a:solidFill>
            </a:endParaRPr>
          </a:p>
        </p:txBody>
      </p:sp>
      <p:sp>
        <p:nvSpPr>
          <p:cNvPr id="392" name="Google Shape;392;p14"/>
          <p:cNvSpPr/>
          <p:nvPr/>
        </p:nvSpPr>
        <p:spPr>
          <a:xfrm>
            <a:off x="365760" y="749808"/>
            <a:ext cx="8412480" cy="713232"/>
          </a:xfrm>
          <a:prstGeom prst="rect">
            <a:avLst/>
          </a:prstGeom>
          <a:solidFill>
            <a:srgbClr val="F8F5FF"/>
          </a:solidFill>
          <a:ln cap="flat" cmpd="sng" w="12700">
            <a:solidFill>
              <a:srgbClr val="E0D6F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14"/>
          <p:cNvSpPr/>
          <p:nvPr/>
        </p:nvSpPr>
        <p:spPr>
          <a:xfrm>
            <a:off x="548640" y="877824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i="1" lang="en-US" sz="1300" u="none" cap="none" strike="noStrike">
                <a:solidFill>
                  <a:srgbClr val="64748B"/>
                </a:solidFill>
              </a:rPr>
              <a:t>The system works and meets the brief. But we're honest about what it can't do yet</a:t>
            </a:r>
            <a:r>
              <a:rPr i="1" lang="en-US" sz="1300">
                <a:solidFill>
                  <a:srgbClr val="64748B"/>
                </a:solidFill>
              </a:rPr>
              <a:t>, </a:t>
            </a:r>
            <a:r>
              <a:rPr i="1" lang="en-US" sz="1300" u="none" cap="none" strike="noStrike">
                <a:solidFill>
                  <a:srgbClr val="64748B"/>
                </a:solidFill>
              </a:rPr>
              <a:t> and we know exactly what we'd fix first.</a:t>
            </a:r>
            <a:endParaRPr i="0" sz="1300" u="none" cap="none" strike="noStrike">
              <a:solidFill>
                <a:schemeClr val="dk1"/>
              </a:solidFill>
            </a:endParaRPr>
          </a:p>
        </p:txBody>
      </p:sp>
      <p:sp>
        <p:nvSpPr>
          <p:cNvPr id="394" name="Google Shape;394;p14"/>
          <p:cNvSpPr/>
          <p:nvPr/>
        </p:nvSpPr>
        <p:spPr>
          <a:xfrm>
            <a:off x="365760" y="1591056"/>
            <a:ext cx="4114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04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1040"/>
                </a:solidFill>
              </a:rPr>
              <a:t>Current limitations</a:t>
            </a:r>
            <a:endParaRPr i="0" sz="1300" u="none" cap="none" strike="noStrike">
              <a:solidFill>
                <a:schemeClr val="dk1"/>
              </a:solidFill>
            </a:endParaRPr>
          </a:p>
        </p:txBody>
      </p:sp>
      <p:sp>
        <p:nvSpPr>
          <p:cNvPr id="395" name="Google Shape;395;p14"/>
          <p:cNvSpPr/>
          <p:nvPr/>
        </p:nvSpPr>
        <p:spPr>
          <a:xfrm>
            <a:off x="365760" y="1901952"/>
            <a:ext cx="4114800" cy="585216"/>
          </a:xfrm>
          <a:prstGeom prst="rect">
            <a:avLst/>
          </a:prstGeom>
          <a:solidFill>
            <a:srgbClr val="FFF8F8"/>
          </a:solidFill>
          <a:ln cap="flat" cmpd="sng" w="12700">
            <a:solidFill>
              <a:srgbClr val="E0D6F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14"/>
          <p:cNvSpPr/>
          <p:nvPr/>
        </p:nvSpPr>
        <p:spPr>
          <a:xfrm>
            <a:off x="365760" y="1901952"/>
            <a:ext cx="54864" cy="585216"/>
          </a:xfrm>
          <a:prstGeom prst="rect">
            <a:avLst/>
          </a:prstGeom>
          <a:solidFill>
            <a:srgbClr val="F87171"/>
          </a:solidFill>
          <a:ln cap="flat" cmpd="sng" w="12700">
            <a:solidFill>
              <a:srgbClr val="F871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14"/>
          <p:cNvSpPr/>
          <p:nvPr/>
        </p:nvSpPr>
        <p:spPr>
          <a:xfrm>
            <a:off x="566928" y="1938528"/>
            <a:ext cx="374904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i="0" lang="en-US" sz="1100" u="none" cap="none" strike="noStrike">
                <a:solidFill>
                  <a:srgbClr val="334155"/>
                </a:solidFill>
              </a:rPr>
              <a:t> The AI server runs on the teacher's machine. If they haven't set up Ollama, the question generator doesn't work.</a:t>
            </a:r>
            <a:endParaRPr i="0" sz="1100" u="none" cap="none" strike="noStrike">
              <a:solidFill>
                <a:schemeClr val="dk1"/>
              </a:solidFill>
            </a:endParaRPr>
          </a:p>
        </p:txBody>
      </p:sp>
      <p:sp>
        <p:nvSpPr>
          <p:cNvPr id="398" name="Google Shape;398;p14"/>
          <p:cNvSpPr/>
          <p:nvPr/>
        </p:nvSpPr>
        <p:spPr>
          <a:xfrm>
            <a:off x="365760" y="2578608"/>
            <a:ext cx="4114800" cy="585216"/>
          </a:xfrm>
          <a:prstGeom prst="rect">
            <a:avLst/>
          </a:prstGeom>
          <a:solidFill>
            <a:srgbClr val="FFF8F8"/>
          </a:solidFill>
          <a:ln cap="flat" cmpd="sng" w="12700">
            <a:solidFill>
              <a:srgbClr val="E0D6F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14"/>
          <p:cNvSpPr/>
          <p:nvPr/>
        </p:nvSpPr>
        <p:spPr>
          <a:xfrm>
            <a:off x="365760" y="2578608"/>
            <a:ext cx="54864" cy="585216"/>
          </a:xfrm>
          <a:prstGeom prst="rect">
            <a:avLst/>
          </a:prstGeom>
          <a:solidFill>
            <a:srgbClr val="F87171"/>
          </a:solidFill>
          <a:ln cap="flat" cmpd="sng" w="12700">
            <a:solidFill>
              <a:srgbClr val="F871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14"/>
          <p:cNvSpPr/>
          <p:nvPr/>
        </p:nvSpPr>
        <p:spPr>
          <a:xfrm>
            <a:off x="566928" y="2615184"/>
            <a:ext cx="374904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i="0" lang="en-US" sz="1100" u="none" cap="none" strike="noStrike">
                <a:solidFill>
                  <a:srgbClr val="334155"/>
                </a:solidFill>
              </a:rPr>
              <a:t> Four mini-games is fine for one session. Come back a second week and students will have seen them all before.</a:t>
            </a:r>
            <a:endParaRPr i="0" sz="1100" u="none" cap="none" strike="noStrike">
              <a:solidFill>
                <a:schemeClr val="dk1"/>
              </a:solidFill>
            </a:endParaRPr>
          </a:p>
        </p:txBody>
      </p:sp>
      <p:sp>
        <p:nvSpPr>
          <p:cNvPr id="401" name="Google Shape;401;p14"/>
          <p:cNvSpPr/>
          <p:nvPr/>
        </p:nvSpPr>
        <p:spPr>
          <a:xfrm>
            <a:off x="365760" y="3255264"/>
            <a:ext cx="4114800" cy="585216"/>
          </a:xfrm>
          <a:prstGeom prst="rect">
            <a:avLst/>
          </a:prstGeom>
          <a:solidFill>
            <a:srgbClr val="FFF8F8"/>
          </a:solidFill>
          <a:ln cap="flat" cmpd="sng" w="12700">
            <a:solidFill>
              <a:srgbClr val="E0D6F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14"/>
          <p:cNvSpPr/>
          <p:nvPr/>
        </p:nvSpPr>
        <p:spPr>
          <a:xfrm>
            <a:off x="365760" y="3255264"/>
            <a:ext cx="54864" cy="585216"/>
          </a:xfrm>
          <a:prstGeom prst="rect">
            <a:avLst/>
          </a:prstGeom>
          <a:solidFill>
            <a:srgbClr val="F87171"/>
          </a:solidFill>
          <a:ln cap="flat" cmpd="sng" w="12700">
            <a:solidFill>
              <a:srgbClr val="F871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14"/>
          <p:cNvSpPr/>
          <p:nvPr/>
        </p:nvSpPr>
        <p:spPr>
          <a:xfrm>
            <a:off x="566928" y="3291840"/>
            <a:ext cx="374904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i="0" lang="en-US" sz="1100" u="none" cap="none" strike="noStrike">
                <a:solidFill>
                  <a:srgbClr val="334155"/>
                </a:solidFill>
              </a:rPr>
              <a:t>Session state is in localStorage. A student clearing their browser mid-session will lose their place.</a:t>
            </a:r>
            <a:endParaRPr i="0" sz="1100" u="none" cap="none" strike="noStrike">
              <a:solidFill>
                <a:schemeClr val="dk1"/>
              </a:solidFill>
            </a:endParaRPr>
          </a:p>
        </p:txBody>
      </p:sp>
      <p:sp>
        <p:nvSpPr>
          <p:cNvPr id="404" name="Google Shape;404;p14"/>
          <p:cNvSpPr/>
          <p:nvPr/>
        </p:nvSpPr>
        <p:spPr>
          <a:xfrm>
            <a:off x="365760" y="3931920"/>
            <a:ext cx="4114800" cy="585216"/>
          </a:xfrm>
          <a:prstGeom prst="rect">
            <a:avLst/>
          </a:prstGeom>
          <a:solidFill>
            <a:srgbClr val="FFF8F8"/>
          </a:solidFill>
          <a:ln cap="flat" cmpd="sng" w="12700">
            <a:solidFill>
              <a:srgbClr val="E0D6F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14"/>
          <p:cNvSpPr/>
          <p:nvPr/>
        </p:nvSpPr>
        <p:spPr>
          <a:xfrm>
            <a:off x="365760" y="3931920"/>
            <a:ext cx="54864" cy="585216"/>
          </a:xfrm>
          <a:prstGeom prst="rect">
            <a:avLst/>
          </a:prstGeom>
          <a:solidFill>
            <a:srgbClr val="F87171"/>
          </a:solidFill>
          <a:ln cap="flat" cmpd="sng" w="12700">
            <a:solidFill>
              <a:srgbClr val="F871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14"/>
          <p:cNvSpPr/>
          <p:nvPr/>
        </p:nvSpPr>
        <p:spPr>
          <a:xfrm>
            <a:off x="566928" y="3968496"/>
            <a:ext cx="374904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i="0" lang="en-US" sz="1100" u="none" cap="none" strike="noStrike">
                <a:solidFill>
                  <a:srgbClr val="334155"/>
                </a:solidFill>
              </a:rPr>
              <a:t>We have no automated tests for Firebase security rules or role-based access</a:t>
            </a:r>
            <a:r>
              <a:rPr lang="en-US" sz="1100">
                <a:solidFill>
                  <a:srgbClr val="334155"/>
                </a:solidFill>
              </a:rPr>
              <a:t>, </a:t>
            </a:r>
            <a:r>
              <a:rPr i="0" lang="en-US" sz="1100" u="none" cap="none" strike="noStrike">
                <a:solidFill>
                  <a:srgbClr val="334155"/>
                </a:solidFill>
              </a:rPr>
              <a:t>those were all manual.</a:t>
            </a:r>
            <a:endParaRPr i="0" sz="1100" u="none" cap="none" strike="noStrike">
              <a:solidFill>
                <a:schemeClr val="dk1"/>
              </a:solidFill>
            </a:endParaRPr>
          </a:p>
        </p:txBody>
      </p:sp>
      <p:sp>
        <p:nvSpPr>
          <p:cNvPr id="407" name="Google Shape;407;p14"/>
          <p:cNvSpPr/>
          <p:nvPr/>
        </p:nvSpPr>
        <p:spPr>
          <a:xfrm>
            <a:off x="4754880" y="1591056"/>
            <a:ext cx="4023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04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1040"/>
                </a:solidFill>
              </a:rPr>
              <a:t>If we kept going...</a:t>
            </a:r>
            <a:endParaRPr i="0" sz="1300" u="none" cap="none" strike="noStrike">
              <a:solidFill>
                <a:schemeClr val="dk1"/>
              </a:solidFill>
            </a:endParaRPr>
          </a:p>
        </p:txBody>
      </p:sp>
      <p:sp>
        <p:nvSpPr>
          <p:cNvPr id="408" name="Google Shape;408;p14"/>
          <p:cNvSpPr/>
          <p:nvPr/>
        </p:nvSpPr>
        <p:spPr>
          <a:xfrm>
            <a:off x="4754880" y="1901952"/>
            <a:ext cx="4023360" cy="475488"/>
          </a:xfrm>
          <a:prstGeom prst="rect">
            <a:avLst/>
          </a:prstGeom>
          <a:solidFill>
            <a:srgbClr val="F8F5FF"/>
          </a:solidFill>
          <a:ln cap="flat" cmpd="sng" w="12700">
            <a:solidFill>
              <a:srgbClr val="E0D6F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14"/>
          <p:cNvSpPr/>
          <p:nvPr/>
        </p:nvSpPr>
        <p:spPr>
          <a:xfrm>
            <a:off x="4754880" y="1901952"/>
            <a:ext cx="54864" cy="475488"/>
          </a:xfrm>
          <a:prstGeom prst="rect">
            <a:avLst/>
          </a:prstGeom>
          <a:solidFill>
            <a:srgbClr val="6C2BD9"/>
          </a:solidFill>
          <a:ln cap="flat" cmpd="sng" w="12700">
            <a:solidFill>
              <a:srgbClr val="6C2B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14"/>
          <p:cNvSpPr/>
          <p:nvPr/>
        </p:nvSpPr>
        <p:spPr>
          <a:xfrm>
            <a:off x="4937760" y="1938528"/>
            <a:ext cx="36576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i="0" lang="en-US" sz="1100" u="none" cap="none" strike="noStrike">
                <a:solidFill>
                  <a:srgbClr val="334155"/>
                </a:solidFill>
              </a:rPr>
              <a:t> Host the AI server online so teachers don't need to set anything up locally</a:t>
            </a:r>
            <a:endParaRPr i="0" sz="1100" u="none" cap="none" strike="noStrike">
              <a:solidFill>
                <a:schemeClr val="dk1"/>
              </a:solidFill>
            </a:endParaRPr>
          </a:p>
        </p:txBody>
      </p:sp>
      <p:sp>
        <p:nvSpPr>
          <p:cNvPr id="411" name="Google Shape;411;p14"/>
          <p:cNvSpPr/>
          <p:nvPr/>
        </p:nvSpPr>
        <p:spPr>
          <a:xfrm>
            <a:off x="4754880" y="2468880"/>
            <a:ext cx="4023360" cy="47548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D6F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14"/>
          <p:cNvSpPr/>
          <p:nvPr/>
        </p:nvSpPr>
        <p:spPr>
          <a:xfrm>
            <a:off x="4754880" y="2468880"/>
            <a:ext cx="54864" cy="475488"/>
          </a:xfrm>
          <a:prstGeom prst="rect">
            <a:avLst/>
          </a:prstGeom>
          <a:solidFill>
            <a:srgbClr val="6C2BD9"/>
          </a:solidFill>
          <a:ln cap="flat" cmpd="sng" w="12700">
            <a:solidFill>
              <a:srgbClr val="6C2B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14"/>
          <p:cNvSpPr/>
          <p:nvPr/>
        </p:nvSpPr>
        <p:spPr>
          <a:xfrm>
            <a:off x="4937760" y="2505456"/>
            <a:ext cx="36576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i="0" lang="en-US" sz="1100" u="none" cap="none" strike="noStrike">
                <a:solidFill>
                  <a:srgbClr val="334155"/>
                </a:solidFill>
              </a:rPr>
              <a:t>More mini-games</a:t>
            </a:r>
            <a:r>
              <a:rPr lang="en-US" sz="1100">
                <a:solidFill>
                  <a:srgbClr val="334155"/>
                </a:solidFill>
              </a:rPr>
              <a:t>, </a:t>
            </a:r>
            <a:r>
              <a:rPr i="0" lang="en-US" sz="1100" u="none" cap="none" strike="noStrike">
                <a:solidFill>
                  <a:srgbClr val="334155"/>
                </a:solidFill>
              </a:rPr>
              <a:t>the architecture already supports adding them</a:t>
            </a:r>
            <a:endParaRPr i="0" sz="1100" u="none" cap="none" strike="noStrike">
              <a:solidFill>
                <a:schemeClr val="dk1"/>
              </a:solidFill>
            </a:endParaRPr>
          </a:p>
        </p:txBody>
      </p:sp>
      <p:sp>
        <p:nvSpPr>
          <p:cNvPr id="414" name="Google Shape;414;p14"/>
          <p:cNvSpPr/>
          <p:nvPr/>
        </p:nvSpPr>
        <p:spPr>
          <a:xfrm>
            <a:off x="4754880" y="3035808"/>
            <a:ext cx="4023360" cy="475488"/>
          </a:xfrm>
          <a:prstGeom prst="rect">
            <a:avLst/>
          </a:prstGeom>
          <a:solidFill>
            <a:srgbClr val="F8F5FF"/>
          </a:solidFill>
          <a:ln cap="flat" cmpd="sng" w="12700">
            <a:solidFill>
              <a:srgbClr val="E0D6F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14"/>
          <p:cNvSpPr/>
          <p:nvPr/>
        </p:nvSpPr>
        <p:spPr>
          <a:xfrm>
            <a:off x="4754880" y="3035808"/>
            <a:ext cx="54864" cy="475488"/>
          </a:xfrm>
          <a:prstGeom prst="rect">
            <a:avLst/>
          </a:prstGeom>
          <a:solidFill>
            <a:srgbClr val="6C2BD9"/>
          </a:solidFill>
          <a:ln cap="flat" cmpd="sng" w="12700">
            <a:solidFill>
              <a:srgbClr val="6C2B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14"/>
          <p:cNvSpPr/>
          <p:nvPr/>
        </p:nvSpPr>
        <p:spPr>
          <a:xfrm>
            <a:off x="4937760" y="3072384"/>
            <a:ext cx="36576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i="0" lang="en-US" sz="1100" u="none" cap="none" strike="noStrike">
                <a:solidFill>
                  <a:srgbClr val="334155"/>
                </a:solidFill>
              </a:rPr>
              <a:t>A teacher analytics view: per-question accuracy, who contributed what, team breakdowns</a:t>
            </a:r>
            <a:endParaRPr i="0" sz="1100" u="none" cap="none" strike="noStrike">
              <a:solidFill>
                <a:schemeClr val="dk1"/>
              </a:solidFill>
            </a:endParaRPr>
          </a:p>
        </p:txBody>
      </p:sp>
      <p:sp>
        <p:nvSpPr>
          <p:cNvPr id="417" name="Google Shape;417;p14"/>
          <p:cNvSpPr/>
          <p:nvPr/>
        </p:nvSpPr>
        <p:spPr>
          <a:xfrm>
            <a:off x="4754880" y="3602736"/>
            <a:ext cx="4023360" cy="47548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D6F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14"/>
          <p:cNvSpPr/>
          <p:nvPr/>
        </p:nvSpPr>
        <p:spPr>
          <a:xfrm>
            <a:off x="4754880" y="3602736"/>
            <a:ext cx="54864" cy="475488"/>
          </a:xfrm>
          <a:prstGeom prst="rect">
            <a:avLst/>
          </a:prstGeom>
          <a:solidFill>
            <a:srgbClr val="6C2BD9"/>
          </a:solidFill>
          <a:ln cap="flat" cmpd="sng" w="12700">
            <a:solidFill>
              <a:srgbClr val="6C2B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14"/>
          <p:cNvSpPr/>
          <p:nvPr/>
        </p:nvSpPr>
        <p:spPr>
          <a:xfrm>
            <a:off x="4937760" y="3639312"/>
            <a:ext cx="36576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i="0" lang="en-US" sz="1100" u="none" cap="none" strike="noStrike">
                <a:solidFill>
                  <a:srgbClr val="334155"/>
                </a:solidFill>
              </a:rPr>
              <a:t>A leaderboard</a:t>
            </a:r>
            <a:r>
              <a:rPr lang="en-US" sz="1100">
                <a:solidFill>
                  <a:srgbClr val="334155"/>
                </a:solidFill>
              </a:rPr>
              <a:t>, </a:t>
            </a:r>
            <a:r>
              <a:rPr i="0" lang="en-US" sz="1100" u="none" cap="none" strike="noStrike">
                <a:solidFill>
                  <a:srgbClr val="334155"/>
                </a:solidFill>
              </a:rPr>
              <a:t>the data is already in Firestore, it just needs a front end</a:t>
            </a:r>
            <a:endParaRPr i="0" sz="1100" u="none" cap="none" strike="noStrike">
              <a:solidFill>
                <a:schemeClr val="dk1"/>
              </a:solidFill>
            </a:endParaRPr>
          </a:p>
        </p:txBody>
      </p:sp>
      <p:sp>
        <p:nvSpPr>
          <p:cNvPr id="420" name="Google Shape;420;p14"/>
          <p:cNvSpPr/>
          <p:nvPr/>
        </p:nvSpPr>
        <p:spPr>
          <a:xfrm>
            <a:off x="4754880" y="4169664"/>
            <a:ext cx="4023360" cy="475488"/>
          </a:xfrm>
          <a:prstGeom prst="rect">
            <a:avLst/>
          </a:prstGeom>
          <a:solidFill>
            <a:srgbClr val="F8F5FF"/>
          </a:solidFill>
          <a:ln cap="flat" cmpd="sng" w="12700">
            <a:solidFill>
              <a:srgbClr val="E0D6F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14"/>
          <p:cNvSpPr/>
          <p:nvPr/>
        </p:nvSpPr>
        <p:spPr>
          <a:xfrm>
            <a:off x="4754880" y="4169664"/>
            <a:ext cx="54864" cy="475488"/>
          </a:xfrm>
          <a:prstGeom prst="rect">
            <a:avLst/>
          </a:prstGeom>
          <a:solidFill>
            <a:srgbClr val="6C2BD9"/>
          </a:solidFill>
          <a:ln cap="flat" cmpd="sng" w="12700">
            <a:solidFill>
              <a:srgbClr val="6C2B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14"/>
          <p:cNvSpPr/>
          <p:nvPr/>
        </p:nvSpPr>
        <p:spPr>
          <a:xfrm>
            <a:off x="4937760" y="4206240"/>
            <a:ext cx="36576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i="0" lang="en-US" sz="1100" u="none" cap="none" strike="noStrike">
                <a:solidFill>
                  <a:srgbClr val="334155"/>
                </a:solidFill>
              </a:rPr>
              <a:t>A security section: proper Firestore rules, role enforcement and AI output validation</a:t>
            </a:r>
            <a:endParaRPr i="0" sz="1100" u="none" cap="none" strike="noStrike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15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6C2BD9"/>
          </a:solidFill>
          <a:ln cap="flat" cmpd="sng" w="12700">
            <a:solidFill>
              <a:srgbClr val="6C2B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15"/>
          <p:cNvSpPr/>
          <p:nvPr/>
        </p:nvSpPr>
        <p:spPr>
          <a:xfrm>
            <a:off x="0" y="4983480"/>
            <a:ext cx="9144000" cy="54864"/>
          </a:xfrm>
          <a:prstGeom prst="rect">
            <a:avLst/>
          </a:prstGeom>
          <a:solidFill>
            <a:srgbClr val="E8E0F8"/>
          </a:solidFill>
          <a:ln cap="flat" cmpd="sng" w="12700">
            <a:solidFill>
              <a:srgbClr val="E8E0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15"/>
          <p:cNvSpPr/>
          <p:nvPr/>
        </p:nvSpPr>
        <p:spPr>
          <a:xfrm>
            <a:off x="365760" y="4910328"/>
            <a:ext cx="84124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COMP2003 – Capture the Flag  |  Group 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5"/>
          <p:cNvSpPr/>
          <p:nvPr/>
        </p:nvSpPr>
        <p:spPr>
          <a:xfrm>
            <a:off x="365760" y="91440"/>
            <a:ext cx="84124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</a:rPr>
              <a:t>Conclusion</a:t>
            </a:r>
            <a:endParaRPr i="0" sz="2200" u="none" cap="none" strike="noStrike">
              <a:solidFill>
                <a:schemeClr val="dk1"/>
              </a:solidFill>
            </a:endParaRPr>
          </a:p>
        </p:txBody>
      </p:sp>
      <p:sp>
        <p:nvSpPr>
          <p:cNvPr id="432" name="Google Shape;432;p15"/>
          <p:cNvSpPr/>
          <p:nvPr/>
        </p:nvSpPr>
        <p:spPr>
          <a:xfrm>
            <a:off x="365760" y="749808"/>
            <a:ext cx="8412480" cy="1261872"/>
          </a:xfrm>
          <a:prstGeom prst="rect">
            <a:avLst/>
          </a:prstGeom>
          <a:solidFill>
            <a:srgbClr val="F8F5FF"/>
          </a:solidFill>
          <a:ln cap="flat" cmpd="sng" w="12700">
            <a:solidFill>
              <a:srgbClr val="E0D6F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15"/>
          <p:cNvSpPr/>
          <p:nvPr/>
        </p:nvSpPr>
        <p:spPr>
          <a:xfrm>
            <a:off x="365760" y="749808"/>
            <a:ext cx="54864" cy="1261872"/>
          </a:xfrm>
          <a:prstGeom prst="rect">
            <a:avLst/>
          </a:prstGeom>
          <a:solidFill>
            <a:srgbClr val="6C2BD9"/>
          </a:solidFill>
          <a:ln cap="flat" cmpd="sng" w="12700">
            <a:solidFill>
              <a:srgbClr val="6C2B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15"/>
          <p:cNvSpPr/>
          <p:nvPr/>
        </p:nvSpPr>
        <p:spPr>
          <a:xfrm>
            <a:off x="548640" y="822960"/>
            <a:ext cx="8046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040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E1040"/>
                </a:solidFill>
              </a:rPr>
              <a:t>What we actually built</a:t>
            </a:r>
            <a:endParaRPr i="0" sz="1400" u="none" cap="none" strike="noStrike">
              <a:solidFill>
                <a:schemeClr val="dk1"/>
              </a:solidFill>
            </a:endParaRPr>
          </a:p>
        </p:txBody>
      </p:sp>
      <p:sp>
        <p:nvSpPr>
          <p:cNvPr id="435" name="Google Shape;435;p15"/>
          <p:cNvSpPr/>
          <p:nvPr/>
        </p:nvSpPr>
        <p:spPr>
          <a:xfrm>
            <a:off x="548640" y="1133856"/>
            <a:ext cx="804672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i="0" lang="en-US" sz="1200" u="none" cap="none" strike="noStrike">
                <a:solidFill>
                  <a:srgbClr val="64748B"/>
                </a:solidFill>
              </a:rPr>
              <a:t>A working, classroom-ready multiplayer learning platform. Teachers generate questions with AI, students join with a PIN, answer quizzes, play mini-games, and compete in real time</a:t>
            </a:r>
            <a:r>
              <a:rPr lang="en-US" sz="1200">
                <a:solidFill>
                  <a:srgbClr val="64748B"/>
                </a:solidFill>
              </a:rPr>
              <a:t>, </a:t>
            </a:r>
            <a:r>
              <a:rPr i="0" lang="en-US" sz="1200" u="none" cap="none" strike="noStrike">
                <a:solidFill>
                  <a:srgbClr val="64748B"/>
                </a:solidFill>
              </a:rPr>
              <a:t>all with zero server maintenance required. It does exactly what Dr Hopcraft asked for.</a:t>
            </a:r>
            <a:endParaRPr i="0" sz="1200" u="none" cap="none" strike="noStrike">
              <a:solidFill>
                <a:schemeClr val="dk1"/>
              </a:solidFill>
            </a:endParaRPr>
          </a:p>
        </p:txBody>
      </p:sp>
      <p:sp>
        <p:nvSpPr>
          <p:cNvPr id="436" name="Google Shape;436;p15"/>
          <p:cNvSpPr/>
          <p:nvPr/>
        </p:nvSpPr>
        <p:spPr>
          <a:xfrm>
            <a:off x="365760" y="2176272"/>
            <a:ext cx="4114800" cy="566928"/>
          </a:xfrm>
          <a:prstGeom prst="rect">
            <a:avLst/>
          </a:prstGeom>
          <a:solidFill>
            <a:srgbClr val="F8F5FF"/>
          </a:solidFill>
          <a:ln cap="flat" cmpd="sng" w="12700">
            <a:solidFill>
              <a:srgbClr val="E0D6F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15"/>
          <p:cNvSpPr/>
          <p:nvPr/>
        </p:nvSpPr>
        <p:spPr>
          <a:xfrm>
            <a:off x="548640" y="2212848"/>
            <a:ext cx="3749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i="0" lang="en-US" sz="1200" u="none" cap="none" strike="noStrike">
                <a:solidFill>
                  <a:srgbClr val="334155"/>
                </a:solidFill>
              </a:rPr>
              <a:t>✅  End-to-end game loop with real-time Firebase sync</a:t>
            </a:r>
            <a:endParaRPr i="0" sz="1200" u="none" cap="none" strike="noStrike">
              <a:solidFill>
                <a:schemeClr val="dk1"/>
              </a:solidFill>
            </a:endParaRPr>
          </a:p>
        </p:txBody>
      </p:sp>
      <p:sp>
        <p:nvSpPr>
          <p:cNvPr id="438" name="Google Shape;438;p15"/>
          <p:cNvSpPr/>
          <p:nvPr/>
        </p:nvSpPr>
        <p:spPr>
          <a:xfrm>
            <a:off x="4709160" y="2176272"/>
            <a:ext cx="4114800" cy="56692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D6F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15"/>
          <p:cNvSpPr/>
          <p:nvPr/>
        </p:nvSpPr>
        <p:spPr>
          <a:xfrm>
            <a:off x="4892040" y="2212848"/>
            <a:ext cx="3749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i="0" lang="en-US" sz="1200" u="none" cap="none" strike="noStrike">
                <a:solidFill>
                  <a:srgbClr val="334155"/>
                </a:solidFill>
              </a:rPr>
              <a:t>✅  Google OAuth with proper teacher/student role separation</a:t>
            </a:r>
            <a:endParaRPr i="0" sz="1200" u="none" cap="none" strike="noStrike">
              <a:solidFill>
                <a:schemeClr val="dk1"/>
              </a:solidFill>
            </a:endParaRPr>
          </a:p>
        </p:txBody>
      </p:sp>
      <p:sp>
        <p:nvSpPr>
          <p:cNvPr id="440" name="Google Shape;440;p15"/>
          <p:cNvSpPr/>
          <p:nvPr/>
        </p:nvSpPr>
        <p:spPr>
          <a:xfrm>
            <a:off x="365760" y="2852928"/>
            <a:ext cx="4114800" cy="566928"/>
          </a:xfrm>
          <a:prstGeom prst="rect">
            <a:avLst/>
          </a:prstGeom>
          <a:solidFill>
            <a:srgbClr val="F8F5FF"/>
          </a:solidFill>
          <a:ln cap="flat" cmpd="sng" w="12700">
            <a:solidFill>
              <a:srgbClr val="E0D6F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15"/>
          <p:cNvSpPr/>
          <p:nvPr/>
        </p:nvSpPr>
        <p:spPr>
          <a:xfrm>
            <a:off x="548640" y="2889504"/>
            <a:ext cx="3749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i="0" lang="en-US" sz="1200" u="none" cap="none" strike="noStrike">
                <a:solidFill>
                  <a:srgbClr val="334155"/>
                </a:solidFill>
              </a:rPr>
              <a:t>✅  AI question pipeline with human review step</a:t>
            </a:r>
            <a:endParaRPr i="0" sz="1200" u="none" cap="none" strike="noStrike">
              <a:solidFill>
                <a:schemeClr val="dk1"/>
              </a:solidFill>
            </a:endParaRPr>
          </a:p>
        </p:txBody>
      </p:sp>
      <p:sp>
        <p:nvSpPr>
          <p:cNvPr id="442" name="Google Shape;442;p15"/>
          <p:cNvSpPr/>
          <p:nvPr/>
        </p:nvSpPr>
        <p:spPr>
          <a:xfrm>
            <a:off x="4709160" y="2852928"/>
            <a:ext cx="4114800" cy="56692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D6F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15"/>
          <p:cNvSpPr/>
          <p:nvPr/>
        </p:nvSpPr>
        <p:spPr>
          <a:xfrm>
            <a:off x="4892040" y="2889504"/>
            <a:ext cx="3749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i="0" lang="en-US" sz="1200" u="none" cap="none" strike="noStrike">
                <a:solidFill>
                  <a:srgbClr val="334155"/>
                </a:solidFill>
              </a:rPr>
              <a:t>✅  Four Unity WebGL mini-games, randomly selected each round</a:t>
            </a:r>
            <a:endParaRPr i="0" sz="1200" u="none" cap="none" strike="noStrike">
              <a:solidFill>
                <a:schemeClr val="dk1"/>
              </a:solidFill>
            </a:endParaRPr>
          </a:p>
        </p:txBody>
      </p:sp>
      <p:sp>
        <p:nvSpPr>
          <p:cNvPr id="444" name="Google Shape;444;p15"/>
          <p:cNvSpPr/>
          <p:nvPr/>
        </p:nvSpPr>
        <p:spPr>
          <a:xfrm>
            <a:off x="365760" y="3529584"/>
            <a:ext cx="4114800" cy="566928"/>
          </a:xfrm>
          <a:prstGeom prst="rect">
            <a:avLst/>
          </a:prstGeom>
          <a:solidFill>
            <a:srgbClr val="F8F5FF"/>
          </a:solidFill>
          <a:ln cap="flat" cmpd="sng" w="12700">
            <a:solidFill>
              <a:srgbClr val="E0D6F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15"/>
          <p:cNvSpPr/>
          <p:nvPr/>
        </p:nvSpPr>
        <p:spPr>
          <a:xfrm>
            <a:off x="548640" y="3566160"/>
            <a:ext cx="3749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i="0" lang="en-US" sz="1200" u="none" cap="none" strike="noStrike">
                <a:solidFill>
                  <a:srgbClr val="334155"/>
                </a:solidFill>
              </a:rPr>
              <a:t>✅  Role-based gameplay mechanics for all four roles</a:t>
            </a:r>
            <a:endParaRPr i="0" sz="1200" u="none" cap="none" strike="noStrike">
              <a:solidFill>
                <a:schemeClr val="dk1"/>
              </a:solidFill>
            </a:endParaRPr>
          </a:p>
        </p:txBody>
      </p:sp>
      <p:sp>
        <p:nvSpPr>
          <p:cNvPr id="446" name="Google Shape;446;p15"/>
          <p:cNvSpPr/>
          <p:nvPr/>
        </p:nvSpPr>
        <p:spPr>
          <a:xfrm>
            <a:off x="4709160" y="3529584"/>
            <a:ext cx="4114800" cy="56692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D6F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15"/>
          <p:cNvSpPr/>
          <p:nvPr/>
        </p:nvSpPr>
        <p:spPr>
          <a:xfrm>
            <a:off x="4892040" y="3566160"/>
            <a:ext cx="3749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i="0" lang="en-US" sz="1200" u="none" cap="none" strike="noStrike">
                <a:solidFill>
                  <a:srgbClr val="334155"/>
                </a:solidFill>
              </a:rPr>
              <a:t>✅  Full teacher dashboard — create, upload, launch, monitor, end</a:t>
            </a:r>
            <a:endParaRPr i="0" sz="1200" u="none" cap="none" strike="noStrike">
              <a:solidFill>
                <a:schemeClr val="dk1"/>
              </a:solidFill>
            </a:endParaRPr>
          </a:p>
        </p:txBody>
      </p:sp>
      <p:sp>
        <p:nvSpPr>
          <p:cNvPr id="448" name="Google Shape;448;p15"/>
          <p:cNvSpPr/>
          <p:nvPr/>
        </p:nvSpPr>
        <p:spPr>
          <a:xfrm>
            <a:off x="365760" y="4279392"/>
            <a:ext cx="8412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64748B"/>
                </a:solidFill>
              </a:rPr>
              <a:t>What we learned</a:t>
            </a:r>
            <a:endParaRPr i="0" sz="1200" u="none" cap="none" strike="noStrike">
              <a:solidFill>
                <a:schemeClr val="dk1"/>
              </a:solidFill>
            </a:endParaRPr>
          </a:p>
        </p:txBody>
      </p:sp>
      <p:sp>
        <p:nvSpPr>
          <p:cNvPr id="449" name="Google Shape;449;p15"/>
          <p:cNvSpPr/>
          <p:nvPr/>
        </p:nvSpPr>
        <p:spPr>
          <a:xfrm>
            <a:off x="365760" y="4553712"/>
            <a:ext cx="8412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i="1" lang="en-US" sz="1100" u="none" cap="none" strike="noStrike">
                <a:solidFill>
                  <a:srgbClr val="64748B"/>
                </a:solidFill>
              </a:rPr>
              <a:t>Full-stack dev  ·  Real-time databases  ·  AI integration  ·  Unity WebGL  ·  Agile sprints  ·  Client communication</a:t>
            </a:r>
            <a:endParaRPr i="0" sz="1100" u="none" cap="none" strike="noStrike">
              <a:solidFill>
                <a:schemeClr val="dk1"/>
              </a:solidFill>
            </a:endParaRPr>
          </a:p>
        </p:txBody>
      </p:sp>
      <p:sp>
        <p:nvSpPr>
          <p:cNvPr id="450" name="Google Shape;450;p15"/>
          <p:cNvSpPr/>
          <p:nvPr/>
        </p:nvSpPr>
        <p:spPr>
          <a:xfrm>
            <a:off x="0" y="4846320"/>
            <a:ext cx="9144000" cy="411480"/>
          </a:xfrm>
          <a:prstGeom prst="rect">
            <a:avLst/>
          </a:prstGeom>
          <a:solidFill>
            <a:srgbClr val="6C2BD9"/>
          </a:solidFill>
          <a:ln cap="flat" cmpd="sng" w="12700">
            <a:solidFill>
              <a:srgbClr val="6C2B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p15"/>
          <p:cNvSpPr/>
          <p:nvPr/>
        </p:nvSpPr>
        <p:spPr>
          <a:xfrm>
            <a:off x="0" y="4846320"/>
            <a:ext cx="9144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</a:rPr>
              <a:t>Thank you  ·  Any questions?  ·  Marc Jones  ·  Aarju Shrestha  ·  Edward  ·  Nicholai Baes</a:t>
            </a:r>
            <a:endParaRPr i="0" sz="1200" u="none" cap="none" strike="noStrike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